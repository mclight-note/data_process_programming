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257" r:id="rId5"/>
    <p:sldId id="285" r:id="rId6"/>
    <p:sldId id="286" r:id="rId7"/>
    <p:sldId id="281" r:id="rId8"/>
    <p:sldId id="282" r:id="rId9"/>
    <p:sldId id="287" r:id="rId10"/>
    <p:sldId id="283" r:id="rId11"/>
    <p:sldId id="284" r:id="rId12"/>
    <p:sldId id="290" r:id="rId13"/>
    <p:sldId id="291" r:id="rId14"/>
    <p:sldId id="292" r:id="rId15"/>
    <p:sldId id="29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DABB6"/>
    <a:srgbClr val="4A6C78"/>
    <a:srgbClr val="8EACB7"/>
    <a:srgbClr val="F0F0F0"/>
    <a:srgbClr val="648FA0"/>
    <a:srgbClr val="4D7D91"/>
    <a:srgbClr val="FEFFFF"/>
    <a:srgbClr val="DCDCD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21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90204" pitchFamily="34" charset="0"/>
                <a:ea typeface="Arial" panose="020B0604020202090204" pitchFamily="34" charset="0"/>
              </a:rPr>
            </a:fld>
            <a:endParaRPr lang="zh-CN" altLang="en-US" smtClean="0"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90204" pitchFamily="34" charset="0"/>
                <a:ea typeface="Arial" panose="020B0604020202090204" pitchFamily="34" charset="0"/>
              </a:rPr>
            </a:fld>
            <a:endParaRPr lang="zh-CN" altLang="en-US" smtClean="0"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90204" pitchFamily="34" charset="0"/>
                <a:ea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90204" pitchFamily="34" charset="0"/>
                <a:ea typeface="Arial" panose="020B0604020202090204" pitchFamily="34" charset="0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90204" pitchFamily="34" charset="0"/>
                <a:ea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90204" pitchFamily="34" charset="0"/>
                <a:ea typeface="Arial" panose="020B0604020202090204" pitchFamily="34" charset="0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Arial" panose="020B0604020202090204" pitchFamily="34" charset="0"/>
        <a:ea typeface="Arial" panose="020B060402020209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Arial" panose="020B060402020209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Arial" panose="020B060402020209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Arial" panose="020B060402020209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Arial" panose="020B060402020209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Arial" panose="020B0604020202090204" pitchFamily="34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Arial" panose="020B0604020202090204" pitchFamily="34" charset="0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Arial" panose="020B0604020202090204" pitchFamily="34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Arial" panose="020B0604020202090204" pitchFamily="34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Arial" panose="020B0604020202090204" pitchFamily="34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Arial" panose="020B060402020209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8" name="副标题 7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636520" y="4629785"/>
            <a:ext cx="8376285" cy="607695"/>
          </a:xfrm>
        </p:spPr>
        <p:txBody>
          <a:bodyPr/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solidFill>
                  <a:schemeClr val="bg1"/>
                </a:solidFill>
              </a:rPr>
              <a:t>Student: Shukirillaev Mukhammad Sodik Sherzodbek Ugli          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150110" y="2204720"/>
            <a:ext cx="7919720" cy="1008000"/>
          </a:xfrm>
          <a:prstGeom prst="roundRect">
            <a:avLst/>
          </a:prstGeom>
          <a:solidFill>
            <a:srgbClr val="FE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2515553" y="2272665"/>
            <a:ext cx="7160895" cy="972000"/>
          </a:xfrm>
        </p:spPr>
        <p:txBody>
          <a:bodyPr/>
          <a:lstStyle/>
          <a:p>
            <a:r>
              <a:rPr lang="en-US" altLang="zh-CN" sz="5200">
                <a:gradFill>
                  <a:gsLst>
                    <a:gs pos="0">
                      <a:srgbClr val="4A6C78"/>
                    </a:gs>
                    <a:gs pos="100000">
                      <a:srgbClr val="648FA0"/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Mid-Term</a:t>
            </a:r>
            <a:endParaRPr lang="en-US" altLang="zh-CN" sz="5200">
              <a:gradFill>
                <a:gsLst>
                  <a:gs pos="0">
                    <a:srgbClr val="4A6C78"/>
                  </a:gs>
                  <a:gs pos="100000">
                    <a:srgbClr val="648FA0"/>
                  </a:gs>
                </a:gsLst>
                <a:lin ang="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2052130" y="774700"/>
            <a:ext cx="8136000" cy="8115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spcBef>
                <a:spcPts val="1200"/>
              </a:spcBef>
              <a:buClr>
                <a:schemeClr val="accent6"/>
              </a:buClr>
              <a:defRPr sz="1400">
                <a:latin typeface="Arial" panose="020B0604020202090204" pitchFamily="34" charset="0"/>
                <a:ea typeface="Open Sans" panose="020B0606030504020204" pitchFamily="34" charset="0"/>
                <a:cs typeface="Arial" panose="020B0604020202090204" pitchFamily="34" charset="0"/>
              </a:defRPr>
            </a:lvl1pPr>
          </a:lstStyle>
          <a:p>
            <a:pPr algn="ctr"/>
            <a:r>
              <a:rPr lang="en-US" altLang="zh-CN" sz="3600" dirty="0">
                <a:solidFill>
                  <a:schemeClr val="bg1"/>
                </a:solidFill>
                <a:ea typeface="Arial" panose="020B0604020202090204" pitchFamily="34" charset="0"/>
              </a:rPr>
              <a:t>Data Process Programming</a:t>
            </a:r>
            <a:endParaRPr lang="en-US" altLang="zh-CN" sz="3600" dirty="0">
              <a:solidFill>
                <a:schemeClr val="bg1"/>
              </a:solidFill>
              <a:ea typeface="Arial" panose="020B0604020202090204" pitchFamily="34" charset="0"/>
            </a:endParaRPr>
          </a:p>
        </p:txBody>
      </p:sp>
      <p:pic>
        <p:nvPicPr>
          <p:cNvPr id="3" name="图片 2" descr="公司"/>
          <p:cNvPicPr>
            <a:picLocks noChangeAspect="1"/>
          </p:cNvPicPr>
          <p:nvPr/>
        </p:nvPicPr>
        <p:blipFill>
          <a:blip r:embed="rId5">
            <a:lum bright="100000"/>
          </a:blip>
          <a:stretch>
            <a:fillRect/>
          </a:stretch>
        </p:blipFill>
        <p:spPr>
          <a:xfrm>
            <a:off x="2348230" y="5385435"/>
            <a:ext cx="288000" cy="288000"/>
          </a:xfrm>
          <a:prstGeom prst="rect">
            <a:avLst/>
          </a:prstGeom>
        </p:spPr>
      </p:pic>
      <p:pic>
        <p:nvPicPr>
          <p:cNvPr id="4" name="图片 3" descr="人"/>
          <p:cNvPicPr>
            <a:picLocks noChangeAspect="1"/>
          </p:cNvPicPr>
          <p:nvPr/>
        </p:nvPicPr>
        <p:blipFill>
          <a:blip r:embed="rId6">
            <a:lum bright="100000"/>
          </a:blip>
          <a:stretch>
            <a:fillRect/>
          </a:stretch>
        </p:blipFill>
        <p:spPr>
          <a:xfrm>
            <a:off x="2312670" y="4745355"/>
            <a:ext cx="324000" cy="324000"/>
          </a:xfrm>
          <a:prstGeom prst="rect">
            <a:avLst/>
          </a:prstGeom>
        </p:spPr>
      </p:pic>
      <p:sp>
        <p:nvSpPr>
          <p:cNvPr id="5" name="副标题 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636520" y="5262245"/>
            <a:ext cx="7731760" cy="704215"/>
          </a:xfrm>
          <a:prstGeom prst="rect">
            <a:avLst/>
          </a:prstGeom>
        </p:spPr>
        <p:txBody>
          <a:bodyPr vert="horz" lIns="101600" tIns="38100" rIns="76200" bIns="38100" rtlCol="0">
            <a:no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solidFill>
                  <a:schemeClr val="bg1"/>
                </a:solidFill>
              </a:rPr>
              <a:t>Department:Computer Engineering</a:t>
            </a:r>
            <a:endParaRPr lang="en-US" altLang="zh-CN" sz="2000">
              <a:solidFill>
                <a:schemeClr val="bg1"/>
              </a:solidFill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3813" y="643890"/>
            <a:ext cx="6458585" cy="972185"/>
          </a:xfrm>
        </p:spPr>
        <p:txBody>
          <a:bodyPr/>
          <a:p>
            <a:r>
              <a:rPr lang="en-US" altLang="zh-CN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Question 1:</a:t>
            </a:r>
            <a:endParaRPr lang="en-US" altLang="zh-CN" sz="4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9235" y="1967230"/>
            <a:ext cx="3686810" cy="2606040"/>
          </a:xfrm>
          <a:prstGeom prst="rect">
            <a:avLst/>
          </a:prstGeom>
        </p:spPr>
        <p:txBody>
          <a:bodyPr>
            <a:noAutofit/>
          </a:bodyPr>
          <a:p>
            <a:pPr indent="457200"/>
            <a:r>
              <a:rPr lang="en-US" altLang="zh-CN" sz="3200"/>
              <a:t>What are the main steps in the data processing cycle?</a:t>
            </a:r>
            <a:endParaRPr lang="en-US" altLang="zh-CN" sz="3200"/>
          </a:p>
        </p:txBody>
      </p:sp>
      <p:sp>
        <p:nvSpPr>
          <p:cNvPr id="3" name="Text Box 2"/>
          <p:cNvSpPr txBox="1"/>
          <p:nvPr/>
        </p:nvSpPr>
        <p:spPr>
          <a:xfrm>
            <a:off x="4679315" y="1967230"/>
            <a:ext cx="6750050" cy="396240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2000"/>
              <a:t>1. </a:t>
            </a:r>
            <a:r>
              <a:rPr lang="en-US" altLang="en-US" sz="2000" b="1">
                <a:latin typeface="Arial Bold" panose="020B0604020202090204" charset="0"/>
                <a:cs typeface="Arial Bold" panose="020B0604020202090204" charset="0"/>
              </a:rPr>
              <a:t>Collection</a:t>
            </a:r>
            <a:r>
              <a:rPr lang="en-US" altLang="en-US" sz="2000"/>
              <a:t>: Gather raw data from sources.</a:t>
            </a:r>
            <a:endParaRPr lang="en-US" altLang="en-US" sz="2000"/>
          </a:p>
          <a:p>
            <a:r>
              <a:rPr lang="en-US" altLang="en-US" sz="2000"/>
              <a:t>2. </a:t>
            </a:r>
            <a:r>
              <a:rPr lang="en-US" altLang="en-US" sz="2000" b="1">
                <a:latin typeface="Arial Bold" panose="020B0604020202090204" charset="0"/>
                <a:cs typeface="Arial Bold" panose="020B0604020202090204" charset="0"/>
              </a:rPr>
              <a:t>Preparation</a:t>
            </a:r>
            <a:r>
              <a:rPr lang="en-US" altLang="en-US" sz="2000"/>
              <a:t>: Clean and organize the data.</a:t>
            </a:r>
            <a:endParaRPr lang="en-US" altLang="en-US" sz="2000"/>
          </a:p>
          <a:p>
            <a:r>
              <a:rPr lang="en-US" altLang="en-US" sz="2000"/>
              <a:t>3. </a:t>
            </a:r>
            <a:r>
              <a:rPr lang="en-US" altLang="en-US" sz="2000" b="1">
                <a:latin typeface="Arial Bold" panose="020B0604020202090204" charset="0"/>
                <a:cs typeface="Arial Bold" panose="020B0604020202090204" charset="0"/>
              </a:rPr>
              <a:t>Input</a:t>
            </a:r>
            <a:r>
              <a:rPr lang="en-US" altLang="en-US" sz="2000"/>
              <a:t>: Convert data into machine-readable form.</a:t>
            </a:r>
            <a:endParaRPr lang="en-US" altLang="en-US" sz="2000"/>
          </a:p>
          <a:p>
            <a:r>
              <a:rPr lang="en-US" altLang="en-US" sz="2000"/>
              <a:t>4. </a:t>
            </a:r>
            <a:r>
              <a:rPr lang="en-US" altLang="en-US" sz="2000" b="1">
                <a:latin typeface="Arial Bold" panose="020B0604020202090204" charset="0"/>
                <a:cs typeface="Arial Bold" panose="020B0604020202090204" charset="0"/>
              </a:rPr>
              <a:t>Processing</a:t>
            </a:r>
            <a:r>
              <a:rPr lang="en-US" altLang="en-US" sz="2000"/>
              <a:t>: Perform calculations and analysis.</a:t>
            </a:r>
            <a:endParaRPr lang="en-US" altLang="en-US" sz="2000"/>
          </a:p>
          <a:p>
            <a:r>
              <a:rPr lang="en-US" altLang="en-US" sz="2000"/>
              <a:t>5. </a:t>
            </a:r>
            <a:r>
              <a:rPr lang="en-US" altLang="en-US" sz="2000" b="1">
                <a:latin typeface="Arial Bold" panose="020B0604020202090204" charset="0"/>
                <a:cs typeface="Arial Bold" panose="020B0604020202090204" charset="0"/>
              </a:rPr>
              <a:t>Storage</a:t>
            </a:r>
            <a:r>
              <a:rPr lang="en-US" altLang="en-US" sz="2000"/>
              <a:t>: Save processed data for future use.</a:t>
            </a:r>
            <a:endParaRPr lang="en-US" altLang="en-US" sz="2000"/>
          </a:p>
          <a:p>
            <a:r>
              <a:rPr lang="en-US" altLang="en-US" sz="2000"/>
              <a:t>6. </a:t>
            </a:r>
            <a:r>
              <a:rPr lang="en-US" altLang="en-US" sz="2000" b="1">
                <a:latin typeface="Arial Bold" panose="020B0604020202090204" charset="0"/>
                <a:cs typeface="Arial Bold" panose="020B0604020202090204" charset="0"/>
              </a:rPr>
              <a:t>Output</a:t>
            </a:r>
            <a:r>
              <a:rPr lang="en-US" altLang="en-US" sz="2000"/>
              <a:t>: Present results as reports or visuals.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if you want:</a:t>
            </a:r>
            <a:endParaRPr lang="en-US" altLang="en-US" sz="2000"/>
          </a:p>
          <a:p>
            <a:r>
              <a:rPr lang="en-US" altLang="en-US" sz="2000"/>
              <a:t>7. </a:t>
            </a:r>
            <a:r>
              <a:rPr lang="en-US" altLang="en-US" sz="2000" b="1">
                <a:latin typeface="Arial Bold" panose="020B0604020202090204" charset="0"/>
                <a:cs typeface="Arial Bold" panose="020B0604020202090204" charset="0"/>
              </a:rPr>
              <a:t>Feedback</a:t>
            </a:r>
            <a:r>
              <a:rPr lang="en-US" altLang="en-US" sz="2000"/>
              <a:t>: Use results to improve future processes.</a:t>
            </a:r>
            <a:endParaRPr lang="en-US" altLang="en-US" sz="20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3813" y="643890"/>
            <a:ext cx="6458585" cy="972185"/>
          </a:xfrm>
        </p:spPr>
        <p:txBody>
          <a:bodyPr/>
          <a:p>
            <a:r>
              <a:rPr lang="en-US" altLang="zh-CN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Question 2:</a:t>
            </a:r>
            <a:endParaRPr lang="en-US" altLang="zh-CN" sz="4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6390" y="1536382"/>
            <a:ext cx="5080000" cy="2553335"/>
          </a:xfrm>
          <a:prstGeom prst="rect">
            <a:avLst/>
          </a:prstGeom>
        </p:spPr>
        <p:txBody>
          <a:bodyPr>
            <a:spAutoFit/>
          </a:bodyPr>
          <a:p>
            <a:pPr indent="457200"/>
            <a:r>
              <a:rPr lang="en-US" altLang="zh-CN" sz="32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Explain the importance of data cleaning in the data </a:t>
            </a:r>
            <a:endParaRPr lang="en-US" altLang="zh-CN" sz="32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zh-CN" sz="32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processing pipeline. Provide examples of at least three </a:t>
            </a:r>
            <a:endParaRPr lang="en-US" altLang="zh-CN" sz="32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zh-CN" sz="32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common data cleaning tasks.</a:t>
            </a:r>
            <a:endParaRPr lang="en-US" altLang="zh-CN" sz="32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671820" y="1616075"/>
            <a:ext cx="6447790" cy="4516755"/>
          </a:xfrm>
          <a:prstGeom prst="rect">
            <a:avLst/>
          </a:prstGeom>
        </p:spPr>
        <p:txBody>
          <a:bodyPr>
            <a:noAutofit/>
          </a:bodyPr>
          <a:p>
            <a:pPr indent="457200"/>
            <a:r>
              <a:rPr lang="en-US" altLang="en-US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Data cleaning ensures accuracy, consistency, and reliability of data before analysis. Without cleaning, results can be misleading or incorrect, affecting decision-making.</a:t>
            </a:r>
            <a:endParaRPr lang="en-US" altLang="en-US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endParaRPr lang="en-US" altLang="en-US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en-US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Common Data Cleaning Tasks:</a:t>
            </a:r>
            <a:endParaRPr lang="en-US" altLang="en-US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en-US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1. Removing duplicates: deleting repeated entries.</a:t>
            </a:r>
            <a:endParaRPr lang="en-US" altLang="en-US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en-US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2. Handling missing values: filling in, estimating, or removing incomplete data.</a:t>
            </a:r>
            <a:endParaRPr lang="en-US" altLang="en-US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en-US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3. Correcting errors: fixing typos, wrong formats, or invalid entries.</a:t>
            </a:r>
            <a:endParaRPr lang="en-US" altLang="en-US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065" y="-13500"/>
            <a:ext cx="12240000" cy="6885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3813" y="643890"/>
            <a:ext cx="6458585" cy="972185"/>
          </a:xfrm>
        </p:spPr>
        <p:txBody>
          <a:bodyPr/>
          <a:p>
            <a:r>
              <a:rPr lang="en-US" altLang="zh-CN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Question 3:</a:t>
            </a:r>
            <a:endParaRPr lang="en-US" altLang="zh-CN" sz="4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67740" y="2635250"/>
            <a:ext cx="9669145" cy="1587500"/>
          </a:xfrm>
          <a:prstGeom prst="rect">
            <a:avLst/>
          </a:prstGeom>
        </p:spPr>
        <p:txBody>
          <a:bodyPr>
            <a:noAutofit/>
          </a:bodyPr>
          <a:p>
            <a:pPr indent="457200"/>
            <a:r>
              <a:rPr lang="en-US" altLang="zh-CN" sz="4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Demonstrate how to reshape a 1D NumPy array into a 2D array with 3 rows.</a:t>
            </a:r>
            <a:endParaRPr lang="en-US" altLang="zh-CN" sz="40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7478" y="76835"/>
            <a:ext cx="29622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Code:</a:t>
            </a:r>
            <a:endParaRPr lang="en-US" altLang="zh-CN" sz="6000" b="1" dirty="0">
              <a:solidFill>
                <a:schemeClr val="bg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pic>
        <p:nvPicPr>
          <p:cNvPr id="4" name="Picture 3" descr="Screenshot 2025-10-23 at 10.15.13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435" y="1549400"/>
            <a:ext cx="5918200" cy="3759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4135"/>
            <a:ext cx="12240000" cy="688500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3252000" y="236855"/>
            <a:ext cx="5688000" cy="648000"/>
          </a:xfrm>
          <a:prstGeom prst="roundRect">
            <a:avLst/>
          </a:prstGeom>
          <a:gradFill>
            <a:gsLst>
              <a:gs pos="0">
                <a:srgbClr val="4A6C78"/>
              </a:gs>
              <a:gs pos="100000">
                <a:srgbClr val="8EACB7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88703" y="342265"/>
            <a:ext cx="5014595" cy="49148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157CE9"/>
                    </a:gs>
                    <a:gs pos="100000">
                      <a:srgbClr val="73B2F7"/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en-US" altLang="zh-CN" sz="2600" b="1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</a:rPr>
              <a:t>Result</a:t>
            </a:r>
            <a:endParaRPr lang="en-US" altLang="zh-CN" sz="2600" b="1" dirty="0">
              <a:solidFill>
                <a:schemeClr val="bg1"/>
              </a:solidFill>
              <a:effectLst/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pic>
        <p:nvPicPr>
          <p:cNvPr id="3" name="Picture 2" descr="Screenshot 2025-10-23 at 10.15.33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" y="2431415"/>
            <a:ext cx="9601200" cy="19939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065" y="-13500"/>
            <a:ext cx="12240000" cy="6885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3813" y="643890"/>
            <a:ext cx="6458585" cy="972185"/>
          </a:xfrm>
        </p:spPr>
        <p:txBody>
          <a:bodyPr/>
          <a:p>
            <a:r>
              <a:rPr lang="en-US" altLang="zh-CN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Question 4:</a:t>
            </a:r>
            <a:endParaRPr lang="en-US" altLang="zh-CN" sz="4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47445" y="2112645"/>
            <a:ext cx="10019030" cy="3046095"/>
          </a:xfrm>
          <a:prstGeom prst="rect">
            <a:avLst/>
          </a:prstGeom>
        </p:spPr>
        <p:txBody>
          <a:bodyPr wrap="square">
            <a:spAutoFit/>
          </a:bodyPr>
          <a:p>
            <a:pPr indent="457200"/>
            <a:r>
              <a:rPr lang="en-US" altLang="zh-CN" sz="32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Create a 5×5 NumPy array of random numbers, </a:t>
            </a:r>
            <a:endParaRPr lang="en-US" altLang="zh-CN" sz="32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zh-CN" sz="32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convert it into a Pandas DataFrame, </a:t>
            </a:r>
            <a:endParaRPr lang="en-US" altLang="zh-CN" sz="32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zh-CN" sz="32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and then: </a:t>
            </a:r>
            <a:endParaRPr lang="en-US" altLang="zh-CN" sz="32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pPr indent="457200"/>
            <a:r>
              <a:rPr lang="en-US" altLang="zh-CN" sz="32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Rename the columns as A, B, C, D, and E. </a:t>
            </a:r>
            <a:endParaRPr lang="en-US" altLang="zh-CN" sz="32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zh-CN" sz="32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Find the column with the highest average value and print </a:t>
            </a:r>
            <a:endParaRPr lang="en-US" altLang="zh-CN" sz="32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zh-CN" sz="32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its name.</a:t>
            </a:r>
            <a:endParaRPr lang="en-US" altLang="zh-CN" sz="32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7478" y="76835"/>
            <a:ext cx="29622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Code:</a:t>
            </a:r>
            <a:endParaRPr lang="en-US" altLang="zh-CN" sz="6000" b="1" dirty="0">
              <a:solidFill>
                <a:schemeClr val="bg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pic>
        <p:nvPicPr>
          <p:cNvPr id="6" name="Picture 5" descr="Screenshot 2025-10-23 at 10.26.03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2127250"/>
            <a:ext cx="7518400" cy="2705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4135"/>
            <a:ext cx="12240000" cy="6885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64160" y="531495"/>
            <a:ext cx="11663680" cy="6048000"/>
          </a:xfrm>
          <a:prstGeom prst="rect">
            <a:avLst/>
          </a:prstGeom>
          <a:solidFill>
            <a:schemeClr val="bg1"/>
          </a:solidFill>
          <a:ln>
            <a:solidFill>
              <a:srgbClr val="8EAC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13" name="圆角矩形 12"/>
          <p:cNvSpPr/>
          <p:nvPr/>
        </p:nvSpPr>
        <p:spPr>
          <a:xfrm>
            <a:off x="3252000" y="236855"/>
            <a:ext cx="5688000" cy="648000"/>
          </a:xfrm>
          <a:prstGeom prst="roundRect">
            <a:avLst/>
          </a:prstGeom>
          <a:gradFill>
            <a:gsLst>
              <a:gs pos="0">
                <a:srgbClr val="4A6C78"/>
              </a:gs>
              <a:gs pos="100000">
                <a:srgbClr val="8EACB7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88703" y="342265"/>
            <a:ext cx="5014595" cy="49148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157CE9"/>
                    </a:gs>
                    <a:gs pos="100000">
                      <a:srgbClr val="73B2F7"/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en-US" altLang="zh-CN" sz="2600" b="1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</a:rPr>
              <a:t>Result</a:t>
            </a:r>
            <a:endParaRPr lang="en-US" altLang="zh-CN" sz="2600" b="1" dirty="0">
              <a:solidFill>
                <a:schemeClr val="bg1"/>
              </a:solidFill>
              <a:effectLst/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pic>
        <p:nvPicPr>
          <p:cNvPr id="2" name="Picture 1" descr="Screenshot 2025-10-23 at 10.18.5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50" y="1993265"/>
            <a:ext cx="9131300" cy="2311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065" y="-13500"/>
            <a:ext cx="12240000" cy="6885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3813" y="643890"/>
            <a:ext cx="6458585" cy="972185"/>
          </a:xfrm>
        </p:spPr>
        <p:txBody>
          <a:bodyPr/>
          <a:p>
            <a:r>
              <a:rPr lang="en-US" altLang="zh-CN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Question 5:</a:t>
            </a:r>
            <a:endParaRPr lang="en-US" altLang="zh-CN" sz="4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59460" y="1849755"/>
            <a:ext cx="10890885" cy="3944620"/>
          </a:xfrm>
          <a:prstGeom prst="rect">
            <a:avLst/>
          </a:prstGeom>
        </p:spPr>
        <p:txBody>
          <a:bodyPr>
            <a:noAutofit/>
          </a:bodyPr>
          <a:p>
            <a:pPr indent="457200"/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Given a CSV file named employees.csv containing the </a:t>
            </a:r>
            <a:endParaRPr lang="en-US" altLang="zh-CN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columns: </a:t>
            </a:r>
            <a:endParaRPr lang="en-US" altLang="zh-CN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pPr indent="457200"/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Name, Department, Salary, and JoiningDate, </a:t>
            </a:r>
            <a:endParaRPr lang="en-US" altLang="zh-CN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write a Pandas program to: </a:t>
            </a:r>
            <a:endParaRPr lang="en-US" altLang="zh-CN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pPr indent="457200"/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Load the file into a DataFrame and convert JoiningDate to </a:t>
            </a:r>
            <a:endParaRPr lang="en-US" altLang="zh-CN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datetime. </a:t>
            </a:r>
            <a:endParaRPr lang="en-US" altLang="zh-CN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pPr indent="457200"/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Remove rows with missing Salary values. </a:t>
            </a:r>
            <a:endParaRPr lang="en-US" altLang="zh-CN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pPr indent="457200"/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Group the data by Department and calculate the average </a:t>
            </a:r>
            <a:endParaRPr lang="en-US" altLang="zh-CN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salary for each department. </a:t>
            </a:r>
            <a:endParaRPr lang="en-US" altLang="zh-CN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  <a:p>
            <a:pPr indent="457200"/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Print the department with the highest average salary</a:t>
            </a:r>
            <a:endParaRPr lang="en-US" altLang="zh-CN"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7478" y="76835"/>
            <a:ext cx="29622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Code:</a:t>
            </a:r>
            <a:endParaRPr lang="en-US" altLang="zh-CN" sz="6000" b="1" dirty="0">
              <a:solidFill>
                <a:schemeClr val="bg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pic>
        <p:nvPicPr>
          <p:cNvPr id="4" name="Picture 3" descr="Screenshot 2025-10-23 at 10.30.3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35" y="2199640"/>
            <a:ext cx="6518910" cy="2644140"/>
          </a:xfrm>
          <a:prstGeom prst="rect">
            <a:avLst/>
          </a:prstGeom>
        </p:spPr>
      </p:pic>
      <p:pic>
        <p:nvPicPr>
          <p:cNvPr id="5" name="Picture 4" descr="Screenshot 2025-10-23 at 10.32.30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045" y="1091565"/>
            <a:ext cx="4616450" cy="5175250"/>
          </a:xfrm>
          <a:prstGeom prst="rect">
            <a:avLst/>
          </a:prstGeom>
        </p:spPr>
      </p:pic>
      <p:sp>
        <p:nvSpPr>
          <p:cNvPr id="6" name="文本框 1"/>
          <p:cNvSpPr txBox="1"/>
          <p:nvPr/>
        </p:nvSpPr>
        <p:spPr>
          <a:xfrm>
            <a:off x="7660005" y="508000"/>
            <a:ext cx="2030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200" dirty="0">
                <a:ln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+mj-lt"/>
                <a:ea typeface="Arial" panose="020B0604020202090204" pitchFamily="34" charset="0"/>
                <a:cs typeface="+mj-lt"/>
              </a:rPr>
              <a:t>csv file</a:t>
            </a:r>
            <a:endParaRPr lang="en-US" altLang="zh-CN" sz="3200" dirty="0">
              <a:ln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+mj-lt"/>
              <a:ea typeface="Arial" panose="020B0604020202090204" pitchFamily="34" charset="0"/>
              <a:cs typeface="+mj-lt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4135"/>
            <a:ext cx="12240000" cy="6885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64160" y="531495"/>
            <a:ext cx="11663680" cy="6048000"/>
          </a:xfrm>
          <a:prstGeom prst="rect">
            <a:avLst/>
          </a:prstGeom>
          <a:solidFill>
            <a:schemeClr val="bg1"/>
          </a:solidFill>
          <a:ln>
            <a:solidFill>
              <a:srgbClr val="8EAC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13" name="圆角矩形 12"/>
          <p:cNvSpPr/>
          <p:nvPr/>
        </p:nvSpPr>
        <p:spPr>
          <a:xfrm>
            <a:off x="3252000" y="236855"/>
            <a:ext cx="5688000" cy="648000"/>
          </a:xfrm>
          <a:prstGeom prst="roundRect">
            <a:avLst/>
          </a:prstGeom>
          <a:gradFill>
            <a:gsLst>
              <a:gs pos="0">
                <a:srgbClr val="4A6C78"/>
              </a:gs>
              <a:gs pos="100000">
                <a:srgbClr val="8EACB7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88703" y="342265"/>
            <a:ext cx="5014595" cy="49148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157CE9"/>
                    </a:gs>
                    <a:gs pos="100000">
                      <a:srgbClr val="73B2F7"/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en-US" altLang="zh-CN" sz="2600" b="1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</a:rPr>
              <a:t>Result</a:t>
            </a:r>
            <a:endParaRPr lang="en-US" altLang="zh-CN" sz="2600" b="1" dirty="0">
              <a:solidFill>
                <a:schemeClr val="bg1"/>
              </a:solidFill>
              <a:effectLst/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pic>
        <p:nvPicPr>
          <p:cNvPr id="3" name="Picture 2" descr="Screenshot 2025-10-23 at 10.31.05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505" y="2889250"/>
            <a:ext cx="8750300" cy="1079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878330" y="2120900"/>
            <a:ext cx="84347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Thank you for your attention, Teacher! </a:t>
            </a:r>
            <a:r>
              <a:rPr lang="en-US" altLang="en-US" sz="6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❤</a:t>
            </a:r>
            <a:r>
              <a:rPr lang="en-US" altLang="en-US" sz="6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️</a:t>
            </a:r>
            <a:r>
              <a:rPr lang="en-US" altLang="zh-CN" sz="6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 </a:t>
            </a:r>
            <a:endParaRPr lang="en-US" altLang="zh-CN" sz="6000" b="1" dirty="0">
              <a:solidFill>
                <a:schemeClr val="bg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TEXT_PART_ID" val="1-b"/>
  <p:tag name="KSO_WM_UNIT_TEXT_PART_ID_V2" val="d-1-1"/>
  <p:tag name="ORIWIDTHHEIGHT" val="224.5,75.55"/>
</p:tagLst>
</file>

<file path=ppt/tags/tag65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7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9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1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5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9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1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1842</Words>
  <Application>WPS Writer</Application>
  <PresentationFormat>宽屏</PresentationFormat>
  <Paragraphs>81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Microsoft YaHei</vt:lpstr>
      <vt:lpstr>Arial Black</vt:lpstr>
      <vt:lpstr>Open Sans</vt:lpstr>
      <vt:lpstr>苹方-简</vt:lpstr>
      <vt:lpstr>Arial Bold</vt:lpstr>
      <vt:lpstr>Times New Roman</vt:lpstr>
      <vt:lpstr>Microsoft YaHei</vt:lpstr>
      <vt:lpstr>汉仪旗黑</vt:lpstr>
      <vt:lpstr>Arial Unicode MS</vt:lpstr>
      <vt:lpstr>宋体-简</vt:lpstr>
      <vt:lpstr>SimSun</vt:lpstr>
      <vt:lpstr>Apple Color Emoji</vt:lpstr>
      <vt:lpstr>Office Theme</vt:lpstr>
      <vt:lpstr>Mid-Term</vt:lpstr>
      <vt:lpstr>Question 1:</vt:lpstr>
      <vt:lpstr>Question 2:</vt:lpstr>
      <vt:lpstr>Question 3:</vt:lpstr>
      <vt:lpstr>PowerPoint 演示文稿</vt:lpstr>
      <vt:lpstr>PowerPoint 演示文稿</vt:lpstr>
      <vt:lpstr>Question 4:</vt:lpstr>
      <vt:lpstr>PowerPoint 演示文稿</vt:lpstr>
      <vt:lpstr>PowerPoint 演示文稿</vt:lpstr>
      <vt:lpstr>Question 5: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</dc:creator>
  <cp:lastModifiedBy>Muhammadsodiq Shukurillayev</cp:lastModifiedBy>
  <cp:revision>41</cp:revision>
  <dcterms:created xsi:type="dcterms:W3CDTF">2025-10-23T01:38:07Z</dcterms:created>
  <dcterms:modified xsi:type="dcterms:W3CDTF">2025-10-23T01:38:07Z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1033-12.1.21937.21937</vt:lpwstr>
  </property>
  <property fmtid="{D5CDD505-2E9C-101B-9397-08002B2CF9AE}" pid="3" name="ICV">
    <vt:lpwstr>92A4F30EAF380A672C7FF968391B4B75_43</vt:lpwstr>
  </property>
</Properties>
</file>