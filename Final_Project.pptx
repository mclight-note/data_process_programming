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3"/>
    <p:sldId id="299" r:id="rId4"/>
    <p:sldId id="305" r:id="rId5"/>
    <p:sldId id="306" r:id="rId6"/>
    <p:sldId id="307" r:id="rId7"/>
    <p:sldId id="308" r:id="rId8"/>
    <p:sldId id="309" r:id="rId9"/>
    <p:sldId id="311" r:id="rId10"/>
    <p:sldId id="312" r:id="rId11"/>
    <p:sldId id="313" r:id="rId12"/>
    <p:sldId id="285" r:id="rId13"/>
  </p:sldIdLst>
  <p:sldSz cx="12192000" cy="6858000"/>
  <p:notesSz cx="9144000" cy="6858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222" y="-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>
      <p:scale>
        <a:sx n="100" d="100"/>
        <a:sy n="100" d="100"/>
      </p:scale>
      <p:origin x="0" y="-110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D2A48B96-639E-45A3-A0BA-2464DFDB1FAA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3076" name="幻灯片图像占位符 3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77" name="备注占位符 4"/>
          <p:cNvSpPr>
            <a:spLocks noGrp="1"/>
          </p:cNvSpPr>
          <p:nvPr>
            <p:ph type="body" sz="quarter"/>
          </p:nvPr>
        </p:nvSpPr>
        <p:spPr>
          <a:xfrm>
            <a:off x="914400" y="3300413"/>
            <a:ext cx="7315200" cy="2700338"/>
          </a:xfrm>
          <a:prstGeom prst="rect">
            <a:avLst/>
          </a:prstGeom>
          <a:noFill/>
          <a:ln w="9525">
            <a:noFill/>
          </a:ln>
        </p:spPr>
        <p:txBody>
          <a:bodyPr lIns="91440" tIns="45720" rIns="91440" bIns="45720" anchor="t"/>
          <a:p>
            <a:pPr lvl="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0"/>
            <a:r>
              <a:rPr lang="zh-CN" altLang="en-US" dirty="0"/>
              <a:t>Second level</a:t>
            </a:r>
            <a:endParaRPr lang="zh-CN" altLang="en-US" dirty="0"/>
          </a:p>
          <a:p>
            <a:pPr lvl="2" indent="0"/>
            <a:r>
              <a:rPr lang="zh-CN" altLang="en-US" dirty="0"/>
              <a:t>Third level</a:t>
            </a:r>
            <a:endParaRPr lang="zh-CN" altLang="en-US" dirty="0"/>
          </a:p>
          <a:p>
            <a:pPr lvl="3" indent="0"/>
            <a:r>
              <a:rPr lang="zh-CN" altLang="en-US" dirty="0"/>
              <a:t>Fourth level</a:t>
            </a:r>
            <a:endParaRPr lang="zh-CN" altLang="en-US" dirty="0"/>
          </a:p>
          <a:p>
            <a:pPr lvl="4" indent="0"/>
            <a:r>
              <a:rPr lang="zh-CN" altLang="en-US" dirty="0"/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A6837353-30EB-4A48-80EB-173D804AEFBD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 indent="-22860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-228600"/>
            <a:r>
              <a:rPr lang="zh-CN" altLang="en-US" dirty="0"/>
              <a:t>Second level</a:t>
            </a:r>
            <a:endParaRPr lang="zh-CN" altLang="en-US" dirty="0"/>
          </a:p>
          <a:p>
            <a:pPr lvl="2" indent="-228600"/>
            <a:r>
              <a:rPr lang="zh-CN" altLang="en-US" dirty="0"/>
              <a:t>Third level</a:t>
            </a:r>
            <a:endParaRPr lang="zh-CN" altLang="en-US" dirty="0"/>
          </a:p>
          <a:p>
            <a:pPr lvl="3" indent="-228600"/>
            <a:r>
              <a:rPr lang="zh-CN" altLang="en-US" dirty="0"/>
              <a:t>Fourth level</a:t>
            </a:r>
            <a:endParaRPr lang="zh-CN" altLang="en-US" dirty="0"/>
          </a:p>
          <a:p>
            <a:pPr lvl="4" indent="-228600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slow">
    <p:wipe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-762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4098" name="组合 4"/>
          <p:cNvGrpSpPr/>
          <p:nvPr/>
        </p:nvGrpSpPr>
        <p:grpSpPr>
          <a:xfrm>
            <a:off x="2430780" y="989965"/>
            <a:ext cx="7280276" cy="4449445"/>
            <a:chOff x="2655655" y="744096"/>
            <a:chExt cx="6701164" cy="4093888"/>
          </a:xfrm>
        </p:grpSpPr>
        <p:grpSp>
          <p:nvGrpSpPr>
            <p:cNvPr id="40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10" name="文本框 8"/>
            <p:cNvSpPr txBox="1"/>
            <p:nvPr/>
          </p:nvSpPr>
          <p:spPr>
            <a:xfrm>
              <a:off x="2655655" y="4414398"/>
              <a:ext cx="6701164" cy="4235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endParaRPr 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  <p:sp>
          <p:nvSpPr>
            <p:cNvPr id="4111" name="文本框 9"/>
            <p:cNvSpPr txBox="1"/>
            <p:nvPr/>
          </p:nvSpPr>
          <p:spPr>
            <a:xfrm>
              <a:off x="3002257" y="744096"/>
              <a:ext cx="5959447" cy="53693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3200" dirty="0">
                  <a:solidFill>
                    <a:srgbClr val="404040"/>
                  </a:solidFill>
                  <a:ea typeface="Calibri" panose="020F0502020204030204" pitchFamily="34" charset="0"/>
                  <a:sym typeface="Arial" panose="020B0604020202090204" pitchFamily="34" charset="0"/>
                </a:rPr>
                <a:t>Data Process Programming</a:t>
              </a:r>
              <a:endParaRPr lang="en-US" altLang="zh-CN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</p:grpSp>
      <p:sp>
        <p:nvSpPr>
          <p:cNvPr id="3" name="Rectangles 2"/>
          <p:cNvSpPr/>
          <p:nvPr/>
        </p:nvSpPr>
        <p:spPr>
          <a:xfrm>
            <a:off x="3625850" y="2513965"/>
            <a:ext cx="4852670" cy="1986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GB" sz="4400" dirty="0">
                <a:solidFill>
                  <a:schemeClr val="tx1"/>
                </a:solidFill>
                <a:sym typeface="+mn-ea"/>
              </a:rPr>
              <a:t>Flight Delay Analisys System</a:t>
            </a:r>
            <a:endParaRPr lang="en-US" altLang="en-GB" sz="4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9"/>
          <p:cNvSpPr txBox="1"/>
          <p:nvPr/>
        </p:nvSpPr>
        <p:spPr>
          <a:xfrm>
            <a:off x="-7620" y="6146165"/>
            <a:ext cx="12191365" cy="5835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 algn="ctr" defTabSz="914400"/>
            <a:r>
              <a:rPr lang="en-US" altLang="zh-CN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Student: Shukirillaev Mukhammadsodik		ID: 202438379</a:t>
            </a:r>
            <a:endParaRPr lang="en-US" altLang="zh-CN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966845" y="714375"/>
            <a:ext cx="3651250" cy="101473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 algn="ctr">
              <a:buFont typeface="Arial" panose="020B0604020202090204" pitchFamily="34" charset="0"/>
            </a:pPr>
            <a:r>
              <a:rPr lang="en-US" altLang="en-US" sz="6000" b="1" dirty="0">
                <a:solidFill>
                  <a:srgbClr val="404040"/>
                </a:solidFill>
                <a:ea typeface="Calibri" panose="020F0502020204030204" pitchFamily="34" charset="0"/>
              </a:rPr>
              <a:t>Objective</a:t>
            </a:r>
            <a:endParaRPr lang="en-US" altLang="en-US" sz="60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729105"/>
            <a:ext cx="10515600" cy="4653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3169920"/>
            <a:ext cx="9671685" cy="92964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1889125"/>
            <a:ext cx="10102215" cy="427291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1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Clean and process the flight dataset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2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Identify the major causes of flight delays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3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Explore how factors like distance or weather influence delays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4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Visualize the delay patterns clearly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96520" y="90805"/>
            <a:ext cx="398907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56870" y="857885"/>
            <a:ext cx="11423015" cy="5657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1922780"/>
            <a:ext cx="9671685" cy="7359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550545" y="1143635"/>
            <a:ext cx="11118215" cy="52419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Dataset Overview: Where I got the dataset?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Link: https://www.kaggle.com/code/fabiendaniel/predicting-flight-delays-tutorial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1-04 at 5.09.03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945" y="1864995"/>
            <a:ext cx="7232650" cy="452056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 descr="Screenshot 2025-11-04 at 5.10.40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020" y="2499995"/>
            <a:ext cx="3491230" cy="325056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96520" y="90805"/>
            <a:ext cx="398907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56870" y="857885"/>
            <a:ext cx="11423015" cy="5657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1922780"/>
            <a:ext cx="9671685" cy="7359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550545" y="1022985"/>
            <a:ext cx="11118215" cy="536257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What’s inside?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3" name="Picture 2" descr="Screenshot 2025-11-04 at 5.11.43 PM"/>
          <p:cNvPicPr>
            <a:picLocks noChangeAspect="1"/>
          </p:cNvPicPr>
          <p:nvPr/>
        </p:nvPicPr>
        <p:blipFill>
          <a:blip r:embed="rId2"/>
          <a:srcRect b="55466"/>
          <a:stretch>
            <a:fillRect/>
          </a:stretch>
        </p:blipFill>
        <p:spPr>
          <a:xfrm>
            <a:off x="6626860" y="1092835"/>
            <a:ext cx="5279390" cy="428688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Rectangles 3"/>
          <p:cNvSpPr/>
          <p:nvPr/>
        </p:nvSpPr>
        <p:spPr>
          <a:xfrm>
            <a:off x="8373745" y="3612515"/>
            <a:ext cx="1578610" cy="256540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5" name="Picture 4" descr="Screenshot 2025-11-04 at 5.12.52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20" y="4449445"/>
            <a:ext cx="6179820" cy="1254125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cxnSp>
        <p:nvCxnSpPr>
          <p:cNvPr id="6" name="Straight Connector 5"/>
          <p:cNvCxnSpPr/>
          <p:nvPr/>
        </p:nvCxnSpPr>
        <p:spPr>
          <a:xfrm flipH="1">
            <a:off x="7226846" y="3638391"/>
            <a:ext cx="1180465" cy="820420"/>
          </a:xfrm>
          <a:prstGeom prst="line">
            <a:avLst/>
          </a:prstGeom>
          <a:ln w="28575" cap="flat" cmpd="sng">
            <a:solidFill>
              <a:srgbClr val="FF0000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 flipH="1">
            <a:off x="7240181" y="3858736"/>
            <a:ext cx="1151255" cy="1811020"/>
          </a:xfrm>
          <a:prstGeom prst="line">
            <a:avLst/>
          </a:prstGeom>
          <a:ln w="28575" cap="flat" cmpd="sng">
            <a:solidFill>
              <a:srgbClr val="FF0000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Picture 7" descr="Screenshot 2025-11-04 at 5.20.59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305" y="1696085"/>
            <a:ext cx="5306695" cy="206184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96520" y="90805"/>
            <a:ext cx="398907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56870" y="857885"/>
            <a:ext cx="11423015" cy="5657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1922780"/>
            <a:ext cx="9671685" cy="7359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550545" y="1022985"/>
            <a:ext cx="11118215" cy="536257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Trimming &amp; Creating a new file to work with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1-04 at 5.17.34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00" y="1762760"/>
            <a:ext cx="5349875" cy="333248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Rectangles 3"/>
          <p:cNvSpPr/>
          <p:nvPr/>
        </p:nvSpPr>
        <p:spPr>
          <a:xfrm>
            <a:off x="1781175" y="3287395"/>
            <a:ext cx="1578610" cy="256540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8" name="Picture 7" descr="Screenshot 2025-11-04 at 5.18.35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50" y="1416685"/>
            <a:ext cx="4686300" cy="889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Picture 9" descr="Screenshot 2025-11-04 at 5.21.26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50" y="2489200"/>
            <a:ext cx="4686300" cy="333311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96520" y="90805"/>
            <a:ext cx="398907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1922780"/>
            <a:ext cx="9671685" cy="7359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550545" y="1022985"/>
            <a:ext cx="11118215" cy="536257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Working on a new file: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3" name="Picture 2" descr="Screenshot 2025-11-04 at 5.24.01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85" y="1598930"/>
            <a:ext cx="4620895" cy="3630930"/>
          </a:xfrm>
          <a:prstGeom prst="rect">
            <a:avLst/>
          </a:prstGeom>
        </p:spPr>
      </p:pic>
      <p:pic>
        <p:nvPicPr>
          <p:cNvPr id="5" name="Picture 4" descr="Screenshot 2025-11-04 at 5.24.15 PM"/>
          <p:cNvPicPr>
            <a:picLocks noChangeAspect="1"/>
          </p:cNvPicPr>
          <p:nvPr/>
        </p:nvPicPr>
        <p:blipFill>
          <a:blip r:embed="rId3"/>
          <a:srcRect r="44860"/>
          <a:stretch>
            <a:fillRect/>
          </a:stretch>
        </p:blipFill>
        <p:spPr>
          <a:xfrm>
            <a:off x="5204460" y="1598930"/>
            <a:ext cx="6668770" cy="367538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96520" y="90805"/>
            <a:ext cx="398907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1922780"/>
            <a:ext cx="9671685" cy="7359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202565" y="1022985"/>
            <a:ext cx="10509250" cy="149669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0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I removed unnecessary columns such as ‘Year’, ‘Month’, and ‘UniqueCarrier’ since they had the same values for all flights.</a:t>
            </a:r>
            <a:endParaRPr lang="en-US" altLang="en-US" sz="20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0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I also checked for missing values and handled them properly.</a:t>
            </a:r>
            <a:endParaRPr lang="en-US" altLang="en-US" sz="20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1-04 at 5.28.22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964690"/>
            <a:ext cx="10012680" cy="1129665"/>
          </a:xfrm>
          <a:prstGeom prst="rect">
            <a:avLst/>
          </a:prstGeom>
        </p:spPr>
      </p:pic>
      <p:pic>
        <p:nvPicPr>
          <p:cNvPr id="6" name="Picture 5" descr="Screenshot 2025-11-04 at 5.28.58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205" y="3175635"/>
            <a:ext cx="6264275" cy="2758440"/>
          </a:xfrm>
          <a:prstGeom prst="rect">
            <a:avLst/>
          </a:prstGeom>
        </p:spPr>
      </p:pic>
      <p:pic>
        <p:nvPicPr>
          <p:cNvPr id="7" name="Picture 6" descr="Screenshot 2025-11-04 at 5.30.02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20" y="3175635"/>
            <a:ext cx="5475605" cy="3283585"/>
          </a:xfrm>
          <a:prstGeom prst="rect">
            <a:avLst/>
          </a:prstGeom>
        </p:spPr>
      </p:pic>
      <p:sp>
        <p:nvSpPr>
          <p:cNvPr id="8" name="Rectangles 7"/>
          <p:cNvSpPr/>
          <p:nvPr/>
        </p:nvSpPr>
        <p:spPr>
          <a:xfrm>
            <a:off x="248920" y="6202680"/>
            <a:ext cx="1468120" cy="256540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Rectangles 3"/>
          <p:cNvSpPr/>
          <p:nvPr/>
        </p:nvSpPr>
        <p:spPr>
          <a:xfrm>
            <a:off x="5831205" y="5677535"/>
            <a:ext cx="1370330" cy="256540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5" name="矩形 8"/>
          <p:cNvSpPr/>
          <p:nvPr/>
        </p:nvSpPr>
        <p:spPr>
          <a:xfrm>
            <a:off x="6988175" y="200660"/>
            <a:ext cx="5019675" cy="122301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What are we gonna do with the same values?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3" name="Picture 2" descr="Screenshot 2025-11-04 at 5.32.35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95" y="187325"/>
            <a:ext cx="6710680" cy="6576695"/>
          </a:xfrm>
          <a:prstGeom prst="rect">
            <a:avLst/>
          </a:prstGeom>
        </p:spPr>
      </p:pic>
      <p:sp>
        <p:nvSpPr>
          <p:cNvPr id="8" name="Rectangles 7"/>
          <p:cNvSpPr/>
          <p:nvPr/>
        </p:nvSpPr>
        <p:spPr>
          <a:xfrm>
            <a:off x="3718560" y="1022985"/>
            <a:ext cx="2468880" cy="3220720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347345" y="6154420"/>
            <a:ext cx="76898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9" name="Picture 8" descr="Screenshot 2025-11-04 at 5.34.39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5655" y="1158240"/>
            <a:ext cx="4833620" cy="4269740"/>
          </a:xfrm>
          <a:prstGeom prst="rect">
            <a:avLst/>
          </a:prstGeom>
        </p:spPr>
      </p:pic>
      <p:pic>
        <p:nvPicPr>
          <p:cNvPr id="2" name="Picture 1" descr="Screenshot 2025-11-04 at 5.38.19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1615" y="5481320"/>
            <a:ext cx="3441700" cy="1168400"/>
          </a:xfrm>
          <a:prstGeom prst="rect">
            <a:avLst/>
          </a:prstGeom>
        </p:spPr>
      </p:pic>
      <p:cxnSp>
        <p:nvCxnSpPr>
          <p:cNvPr id="4" name="Curved Connector 3"/>
          <p:cNvCxnSpPr/>
          <p:nvPr/>
        </p:nvCxnSpPr>
        <p:spPr>
          <a:xfrm rot="16200000" flipV="1">
            <a:off x="6289675" y="4697095"/>
            <a:ext cx="1708785" cy="1081405"/>
          </a:xfrm>
          <a:prstGeom prst="curvedConnector3">
            <a:avLst>
              <a:gd name="adj1" fmla="val -3455"/>
            </a:avLst>
          </a:prstGeom>
          <a:ln w="44450"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5" name="矩形 8"/>
          <p:cNvSpPr/>
          <p:nvPr/>
        </p:nvSpPr>
        <p:spPr>
          <a:xfrm>
            <a:off x="96520" y="1494790"/>
            <a:ext cx="4700905" cy="15335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Let’s check if the are more columns to get rid of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sp>
        <p:nvSpPr>
          <p:cNvPr id="10250" name="文本框 28"/>
          <p:cNvSpPr txBox="1"/>
          <p:nvPr/>
        </p:nvSpPr>
        <p:spPr>
          <a:xfrm>
            <a:off x="96520" y="90805"/>
            <a:ext cx="398907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pic>
        <p:nvPicPr>
          <p:cNvPr id="7" name="Picture 6" descr="Screenshot 2025-11-04 at 5.43.48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332105"/>
            <a:ext cx="5088255" cy="619315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5" name="矩形 8"/>
          <p:cNvSpPr/>
          <p:nvPr/>
        </p:nvSpPr>
        <p:spPr>
          <a:xfrm>
            <a:off x="96520" y="1200150"/>
            <a:ext cx="8086090" cy="15335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The first few (only 4 missing) can safely be filled or dropped.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sp>
        <p:nvSpPr>
          <p:cNvPr id="10250" name="文本框 28"/>
          <p:cNvSpPr txBox="1"/>
          <p:nvPr/>
        </p:nvSpPr>
        <p:spPr>
          <a:xfrm>
            <a:off x="96520" y="90805"/>
            <a:ext cx="5998845" cy="70675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4000" b="1" dirty="0">
                <a:solidFill>
                  <a:srgbClr val="404040"/>
                </a:solidFill>
                <a:ea typeface="Calibri" panose="020F0502020204030204" pitchFamily="34" charset="0"/>
              </a:rPr>
              <a:t>Data Preparation</a:t>
            </a:r>
            <a:endParaRPr lang="en-US" altLang="en-US" sz="40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pic>
        <p:nvPicPr>
          <p:cNvPr id="2" name="Picture 1" descr="Screenshot 2025-11-04 at 5.44.51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875" y="62230"/>
            <a:ext cx="2860040" cy="6698615"/>
          </a:xfrm>
          <a:prstGeom prst="rect">
            <a:avLst/>
          </a:prstGeom>
        </p:spPr>
      </p:pic>
      <p:pic>
        <p:nvPicPr>
          <p:cNvPr id="3" name="Picture 2" descr="Screenshot 2025-11-04 at 5.48.01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90" y="2431415"/>
            <a:ext cx="8318500" cy="1549400"/>
          </a:xfrm>
          <a:prstGeom prst="rect">
            <a:avLst/>
          </a:prstGeom>
        </p:spPr>
      </p:pic>
      <p:sp>
        <p:nvSpPr>
          <p:cNvPr id="4" name="Rectangles 3"/>
          <p:cNvSpPr/>
          <p:nvPr/>
        </p:nvSpPr>
        <p:spPr>
          <a:xfrm>
            <a:off x="9253855" y="5283200"/>
            <a:ext cx="2299970" cy="1169035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6" name="Picture 5" descr="Screenshot 2025-11-04 at 5.50.42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165" y="4307205"/>
            <a:ext cx="4267200" cy="214503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6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635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29698" name="组合 4"/>
          <p:cNvGrpSpPr/>
          <p:nvPr/>
        </p:nvGrpSpPr>
        <p:grpSpPr>
          <a:xfrm>
            <a:off x="2434173" y="1840865"/>
            <a:ext cx="7693442" cy="3779927"/>
            <a:chOff x="3457574" y="1980015"/>
            <a:chExt cx="5143501" cy="2116840"/>
          </a:xfrm>
        </p:grpSpPr>
        <p:grpSp>
          <p:nvGrpSpPr>
            <p:cNvPr id="296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7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709" name="文本框 7"/>
            <p:cNvSpPr txBox="1"/>
            <p:nvPr/>
          </p:nvSpPr>
          <p:spPr>
            <a:xfrm>
              <a:off x="3753328" y="1980015"/>
              <a:ext cx="4495699" cy="20333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11500" i="1" dirty="0">
                  <a:solidFill>
                    <a:srgbClr val="404040"/>
                  </a:solidFill>
                  <a:ea typeface="Calibri" panose="020F0502020204030204" pitchFamily="34" charset="0"/>
                </a:rPr>
                <a:t>THANK YOU!</a:t>
              </a:r>
              <a:endParaRPr lang="en-US" altLang="zh-CN" sz="11500" i="1" dirty="0">
                <a:solidFill>
                  <a:srgbClr val="404040"/>
                </a:solidFill>
                <a:ea typeface="Calibri" panose="020F0502020204030204" pitchFamily="34" charset="0"/>
              </a:endParaRPr>
            </a:p>
          </p:txBody>
        </p:sp>
      </p:grp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978</Words>
  <Application>WPS Presentation</Application>
  <PresentationFormat>宽屏</PresentationFormat>
  <Paragraphs>49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Helvetica Neue</vt:lpstr>
      <vt:lpstr>宋体-简</vt:lpstr>
      <vt:lpstr>Microsoft YaHei</vt:lpstr>
      <vt:lpstr>汉仪旗黑</vt:lpstr>
      <vt:lpstr>Arial Unicode MS</vt:lpstr>
      <vt:lpstr>Calibri Light</vt:lpstr>
      <vt:lpstr>SimSun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ZhuLong</dc:creator>
  <cp:lastModifiedBy>mclight</cp:lastModifiedBy>
  <cp:revision>36</cp:revision>
  <dcterms:created xsi:type="dcterms:W3CDTF">2025-11-04T08:51:03Z</dcterms:created>
  <dcterms:modified xsi:type="dcterms:W3CDTF">2025-11-04T08:51:03Z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CA86A7F271A9AD85D3B10969DD46BBC6_43</vt:lpwstr>
  </property>
</Properties>
</file>