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56" r:id="rId3"/>
    <p:sldId id="299" r:id="rId4"/>
    <p:sldId id="305" r:id="rId5"/>
    <p:sldId id="306" r:id="rId6"/>
    <p:sldId id="307" r:id="rId7"/>
    <p:sldId id="308" r:id="rId8"/>
    <p:sldId id="309" r:id="rId9"/>
    <p:sldId id="311" r:id="rId10"/>
    <p:sldId id="312" r:id="rId11"/>
    <p:sldId id="313" r:id="rId12"/>
    <p:sldId id="314" r:id="rId13"/>
    <p:sldId id="315" r:id="rId14"/>
    <p:sldId id="316" r:id="rId15"/>
    <p:sldId id="317" r:id="rId16"/>
    <p:sldId id="318" r:id="rId17"/>
    <p:sldId id="319" r:id="rId18"/>
    <p:sldId id="320" r:id="rId19"/>
    <p:sldId id="321" r:id="rId20"/>
    <p:sldId id="322" r:id="rId21"/>
    <p:sldId id="323" r:id="rId22"/>
    <p:sldId id="285" r:id="rId23"/>
  </p:sldIdLst>
  <p:sldSz cx="12192000" cy="6858000"/>
  <p:notesSz cx="9144000" cy="6858000"/>
  <p:defaultTextStyle>
    <a:defPPr>
      <a:defRPr lang="zh-CN"/>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7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p:scale>
          <a:sx n="66" d="100"/>
          <a:sy n="66" d="100"/>
        </p:scale>
        <p:origin x="222" y="-6"/>
      </p:cViewPr>
      <p:guideLst>
        <p:guide orient="horz" pos="2160"/>
        <p:guide pos="3798"/>
      </p:guideLst>
    </p:cSldViewPr>
  </p:slideViewPr>
  <p:notesTextViewPr>
    <p:cViewPr>
      <p:scale>
        <a:sx n="1" d="1"/>
        <a:sy n="1" d="1"/>
      </p:scale>
      <p:origin x="0" y="0"/>
    </p:cViewPr>
  </p:notesTextViewPr>
  <p:sorterViewPr showFormatting="0">
    <p:cViewPr>
      <p:scale>
        <a:sx n="100" d="100"/>
        <a:sy n="100" d="100"/>
      </p:scale>
      <p:origin x="0" y="-1106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pPr fontAlgn="base"/>
            <a:endParaRPr lang="zh-CN" altLang="en-US" strike="noStrike" noProof="1"/>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600"/>
            </a:lvl1pPr>
          </a:lstStyle>
          <a:p>
            <a:pPr fontAlgn="base"/>
            <a:fld id="{0F9B84EA-7D68-4D60-9CB1-D50884785D1C}" type="datetimeFigureOut">
              <a:rPr lang="zh-CN" altLang="en-US" strike="noStrike" noProof="1" smtClean="0">
                <a:latin typeface="Calibri" panose="020F0502020204030204" pitchFamily="34" charset="0"/>
                <a:ea typeface="SimSun" pitchFamily="2" charset="-122"/>
                <a:cs typeface="+mn-cs"/>
              </a:rPr>
            </a:fld>
            <a:endParaRPr lang="zh-CN" altLang="en-US" strike="noStrike" noProof="1"/>
          </a:p>
        </p:txBody>
      </p:sp>
      <p:sp>
        <p:nvSpPr>
          <p:cNvPr id="4" name="页脚占位符 3"/>
          <p:cNvSpPr>
            <a:spLocks noGrp="1"/>
          </p:cNvSpPr>
          <p:nvPr>
            <p:ph type="ftr" sz="quarter" idx="2"/>
          </p:nvPr>
        </p:nvSpPr>
        <p:spPr>
          <a:xfrm>
            <a:off x="0" y="6513910"/>
            <a:ext cx="3962400" cy="344091"/>
          </a:xfrm>
          <a:prstGeom prst="rect">
            <a:avLst/>
          </a:prstGeom>
        </p:spPr>
        <p:txBody>
          <a:bodyPr vert="horz" lIns="91440" tIns="45720" rIns="91440" bIns="45720" rtlCol="0" anchor="b"/>
          <a:lstStyle>
            <a:lvl1pPr algn="l">
              <a:defRPr sz="1600"/>
            </a:lvl1pPr>
          </a:lstStyle>
          <a:p>
            <a:pPr fontAlgn="base"/>
            <a:endParaRPr lang="zh-CN" altLang="en-US" strike="noStrike" noProof="1"/>
          </a:p>
        </p:txBody>
      </p:sp>
      <p:sp>
        <p:nvSpPr>
          <p:cNvPr id="5" name="灯片编号占位符 4"/>
          <p:cNvSpPr>
            <a:spLocks noGrp="1"/>
          </p:cNvSpPr>
          <p:nvPr>
            <p:ph type="sldNum" sz="quarter" idx="3"/>
          </p:nvPr>
        </p:nvSpPr>
        <p:spPr>
          <a:xfrm>
            <a:off x="5179484" y="6513910"/>
            <a:ext cx="3962400" cy="344091"/>
          </a:xfrm>
          <a:prstGeom prst="rect">
            <a:avLst/>
          </a:prstGeom>
        </p:spPr>
        <p:txBody>
          <a:bodyPr vert="horz" lIns="91440" tIns="45720" rIns="91440" bIns="45720" rtlCol="0" anchor="b"/>
          <a:lstStyle>
            <a:lvl1pPr algn="r">
              <a:defRPr sz="1600"/>
            </a:lvl1pPr>
          </a:lstStyle>
          <a:p>
            <a:pPr fontAlgn="base"/>
            <a:fld id="{8D4E0FC9-F1F8-4FAE-9988-3BA365CFD46F}" type="slidenum">
              <a:rPr lang="zh-CN" altLang="en-US" strike="noStrike" noProof="1" smtClean="0">
                <a:latin typeface="Calibri" panose="020F0502020204030204" pitchFamily="34" charset="0"/>
                <a:ea typeface="SimSun"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SimSun" pitchFamily="2" charset="-122"/>
                <a:cs typeface="+mn-cs"/>
              </a:rPr>
            </a:fld>
            <a:endParaRPr lang="zh-CN" altLang="en-US" strike="noStrike" noProof="1"/>
          </a:p>
        </p:txBody>
      </p:sp>
      <p:sp>
        <p:nvSpPr>
          <p:cNvPr id="3076" name="幻灯片图像占位符 3"/>
          <p:cNvSpPr>
            <a:spLocks noGrp="1" noRot="1" noChangeAspect="1"/>
          </p:cNvSpPr>
          <p:nvPr>
            <p:ph type="sldImg"/>
          </p:nvPr>
        </p:nvSpPr>
        <p:spPr>
          <a:xfrm>
            <a:off x="2514600" y="857250"/>
            <a:ext cx="4114800" cy="2314575"/>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914400" y="3300413"/>
            <a:ext cx="7315200" cy="2700338"/>
          </a:xfrm>
          <a:prstGeom prst="rect">
            <a:avLst/>
          </a:prstGeom>
          <a:noFill/>
          <a:ln w="9525">
            <a:noFill/>
          </a:ln>
        </p:spPr>
        <p:txBody>
          <a:bodyPr lIns="91440" tIns="45720" rIns="91440" bIns="45720" anchor="t"/>
          <a:p>
            <a:pPr lvl="0"/>
            <a:r>
              <a:rPr lang="zh-CN" altLang="en-US" dirty="0"/>
              <a:t>Click to edit Master text style</a:t>
            </a:r>
            <a:endParaRPr lang="zh-CN" altLang="en-US" dirty="0"/>
          </a:p>
          <a:p>
            <a:pPr lvl="1" indent="0"/>
            <a:r>
              <a:rPr lang="zh-CN" altLang="en-US" dirty="0"/>
              <a:t>Second level</a:t>
            </a:r>
            <a:endParaRPr lang="zh-CN" altLang="en-US" dirty="0"/>
          </a:p>
          <a:p>
            <a:pPr lvl="2" indent="0"/>
            <a:r>
              <a:rPr lang="zh-CN" altLang="en-US" dirty="0"/>
              <a:t>Third level</a:t>
            </a:r>
            <a:endParaRPr lang="zh-CN" altLang="en-US" dirty="0"/>
          </a:p>
          <a:p>
            <a:pPr lvl="3" indent="0"/>
            <a:r>
              <a:rPr lang="zh-CN" altLang="en-US" dirty="0"/>
              <a:t>Fourth level</a:t>
            </a:r>
            <a:endParaRPr lang="zh-CN" altLang="en-US" dirty="0"/>
          </a:p>
          <a:p>
            <a:pPr lvl="4" indent="0"/>
            <a:r>
              <a:rPr lang="zh-CN" altLang="en-US" dirty="0"/>
              <a:t>Fifth level</a:t>
            </a:r>
            <a:endParaRPr lang="zh-CN" altLang="en-US"/>
          </a:p>
        </p:txBody>
      </p:sp>
      <p:sp>
        <p:nvSpPr>
          <p:cNvPr id="6" name="页脚占位符 5"/>
          <p:cNvSpPr>
            <a:spLocks noGrp="1"/>
          </p:cNvSpPr>
          <p:nvPr>
            <p:ph type="ftr" sz="quarter" idx="4"/>
          </p:nvPr>
        </p:nvSpPr>
        <p:spPr>
          <a:xfrm>
            <a:off x="0" y="6513910"/>
            <a:ext cx="3962400" cy="344091"/>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5179484" y="6513910"/>
            <a:ext cx="3962400" cy="344091"/>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SimSun"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auto"/>
            <a:r>
              <a:rPr lang="zh-CN" altLang="en-US" strike="noStrike" noProof="1" smtClean="0"/>
              <a:t>Click to edit Master title style</a:t>
            </a:r>
            <a:endParaRPr lang="zh-CN" altLang="en-US" strike="noStrike" noProof="1" smtClean="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Click to edit Master title style</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BEF05245-1089-431C-9CB9-1C9E798A99A0}"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p>
            <a:pPr lvl="0" indent="-228600"/>
            <a:r>
              <a:rPr lang="zh-CN" altLang="en-US" dirty="0"/>
              <a:t>Click to edit Master text style</a:t>
            </a:r>
            <a:endParaRPr lang="zh-CN" altLang="en-US" dirty="0"/>
          </a:p>
          <a:p>
            <a:pPr lvl="1" indent="-228600"/>
            <a:r>
              <a:rPr lang="zh-CN" altLang="en-US" dirty="0"/>
              <a:t>Second level</a:t>
            </a:r>
            <a:endParaRPr lang="zh-CN" altLang="en-US" dirty="0"/>
          </a:p>
          <a:p>
            <a:pPr lvl="2" indent="-228600"/>
            <a:r>
              <a:rPr lang="zh-CN" altLang="en-US" dirty="0"/>
              <a:t>Third level</a:t>
            </a:r>
            <a:endParaRPr lang="zh-CN" altLang="en-US" dirty="0"/>
          </a:p>
          <a:p>
            <a:pPr lvl="3" indent="-228600"/>
            <a:r>
              <a:rPr lang="zh-CN" altLang="en-US" dirty="0"/>
              <a:t>Fourth level</a:t>
            </a:r>
            <a:endParaRPr lang="zh-CN" altLang="en-US" dirty="0"/>
          </a:p>
          <a:p>
            <a:pPr lvl="4" indent="-228600"/>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EF05245-1089-431C-9CB9-1C9E798A99A0}"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transition spd="slow">
    <p:wipe/>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7" name="图片 3"/>
          <p:cNvPicPr>
            <a:picLocks noChangeAspect="1"/>
          </p:cNvPicPr>
          <p:nvPr/>
        </p:nvPicPr>
        <p:blipFill>
          <a:blip r:embed="rId1"/>
          <a:srcRect l="5727" r="16841" b="26530"/>
          <a:stretch>
            <a:fillRect/>
          </a:stretch>
        </p:blipFill>
        <p:spPr>
          <a:xfrm>
            <a:off x="-7620" y="0"/>
            <a:ext cx="12192000" cy="6858000"/>
          </a:xfrm>
          <a:prstGeom prst="rect">
            <a:avLst/>
          </a:prstGeom>
          <a:noFill/>
          <a:ln w="9525">
            <a:noFill/>
          </a:ln>
        </p:spPr>
      </p:pic>
      <p:grpSp>
        <p:nvGrpSpPr>
          <p:cNvPr id="4098" name="组合 4"/>
          <p:cNvGrpSpPr/>
          <p:nvPr/>
        </p:nvGrpSpPr>
        <p:grpSpPr>
          <a:xfrm>
            <a:off x="2430780" y="989965"/>
            <a:ext cx="7280276" cy="4449445"/>
            <a:chOff x="2655655" y="744096"/>
            <a:chExt cx="6701164" cy="4093888"/>
          </a:xfrm>
        </p:grpSpPr>
        <p:grpSp>
          <p:nvGrpSpPr>
            <p:cNvPr id="4099" name="组合 5"/>
            <p:cNvGrpSpPr/>
            <p:nvPr/>
          </p:nvGrpSpPr>
          <p:grpSpPr>
            <a:xfrm>
              <a:off x="3590925" y="1980069"/>
              <a:ext cx="5010150" cy="679906"/>
              <a:chOff x="4324350" y="2295525"/>
              <a:chExt cx="3733800" cy="679906"/>
            </a:xfrm>
          </p:grpSpPr>
          <p:cxnSp>
            <p:nvCxnSpPr>
              <p:cNvPr id="15" name="直接连接符 14"/>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4104" name="组合 6"/>
            <p:cNvGrpSpPr/>
            <p:nvPr/>
          </p:nvGrpSpPr>
          <p:grpSpPr>
            <a:xfrm flipH="1" flipV="1">
              <a:off x="3457574" y="3370824"/>
              <a:ext cx="4951785" cy="726031"/>
              <a:chOff x="4324350" y="2295525"/>
              <a:chExt cx="3733800" cy="679906"/>
            </a:xfrm>
          </p:grpSpPr>
          <p:cxnSp>
            <p:nvCxnSpPr>
              <p:cNvPr id="11" name="直接连接符 10"/>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110" name="文本框 8"/>
            <p:cNvSpPr txBox="1"/>
            <p:nvPr/>
          </p:nvSpPr>
          <p:spPr>
            <a:xfrm>
              <a:off x="2655655" y="4414398"/>
              <a:ext cx="6701164" cy="423586"/>
            </a:xfrm>
            <a:prstGeom prst="rect">
              <a:avLst/>
            </a:prstGeom>
            <a:noFill/>
            <a:ln w="9525">
              <a:noFill/>
            </a:ln>
          </p:spPr>
          <p:txBody>
            <a:bodyPr wrap="square" anchor="t">
              <a:spAutoFit/>
            </a:bodyPr>
            <a:p>
              <a:pPr algn="ctr" defTabSz="914400"/>
              <a:endParaRPr lang="en-US" sz="2400" dirty="0">
                <a:solidFill>
                  <a:srgbClr val="404040"/>
                </a:solidFill>
                <a:ea typeface="Calibri" panose="020F0502020204030204" pitchFamily="34" charset="0"/>
                <a:sym typeface="Arial" panose="020B0604020202090204" pitchFamily="34" charset="0"/>
              </a:endParaRPr>
            </a:p>
          </p:txBody>
        </p:sp>
        <p:sp>
          <p:nvSpPr>
            <p:cNvPr id="4111" name="文本框 9"/>
            <p:cNvSpPr txBox="1"/>
            <p:nvPr/>
          </p:nvSpPr>
          <p:spPr>
            <a:xfrm>
              <a:off x="3002257" y="744096"/>
              <a:ext cx="5959447" cy="536932"/>
            </a:xfrm>
            <a:prstGeom prst="rect">
              <a:avLst/>
            </a:prstGeom>
            <a:noFill/>
            <a:ln w="9525">
              <a:noFill/>
            </a:ln>
          </p:spPr>
          <p:txBody>
            <a:bodyPr wrap="square" anchor="t">
              <a:spAutoFit/>
            </a:bodyPr>
            <a:p>
              <a:pPr algn="ctr" defTabSz="914400"/>
              <a:r>
                <a:rPr lang="en-US" altLang="zh-CN" sz="3200" dirty="0">
                  <a:solidFill>
                    <a:srgbClr val="404040"/>
                  </a:solidFill>
                  <a:ea typeface="Calibri" panose="020F0502020204030204" pitchFamily="34" charset="0"/>
                  <a:sym typeface="Arial" panose="020B0604020202090204" pitchFamily="34" charset="0"/>
                </a:rPr>
                <a:t>Data Process Programming</a:t>
              </a:r>
              <a:endParaRPr lang="en-US" altLang="zh-CN" sz="3200" dirty="0">
                <a:solidFill>
                  <a:srgbClr val="404040"/>
                </a:solidFill>
                <a:ea typeface="Calibri" panose="020F0502020204030204" pitchFamily="34" charset="0"/>
                <a:sym typeface="Arial" panose="020B0604020202090204" pitchFamily="34" charset="0"/>
              </a:endParaRPr>
            </a:p>
          </p:txBody>
        </p:sp>
      </p:grpSp>
      <p:sp>
        <p:nvSpPr>
          <p:cNvPr id="3" name="Rectangles 2"/>
          <p:cNvSpPr/>
          <p:nvPr/>
        </p:nvSpPr>
        <p:spPr>
          <a:xfrm>
            <a:off x="3625850" y="2513965"/>
            <a:ext cx="4852670" cy="198691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sz="4400" dirty="0">
                <a:solidFill>
                  <a:schemeClr val="tx1"/>
                </a:solidFill>
                <a:sym typeface="+mn-ea"/>
              </a:rPr>
              <a:t>Flight Delay Analisys System</a:t>
            </a:r>
            <a:endParaRPr lang="en-US" altLang="en-GB" sz="4400" dirty="0">
              <a:solidFill>
                <a:schemeClr val="tx1"/>
              </a:solidFill>
              <a:sym typeface="+mn-ea"/>
            </a:endParaRPr>
          </a:p>
        </p:txBody>
      </p:sp>
      <p:sp>
        <p:nvSpPr>
          <p:cNvPr id="2" name="文本框 9"/>
          <p:cNvSpPr txBox="1"/>
          <p:nvPr/>
        </p:nvSpPr>
        <p:spPr>
          <a:xfrm>
            <a:off x="-7620" y="6146165"/>
            <a:ext cx="12191365" cy="583565"/>
          </a:xfrm>
          <a:prstGeom prst="rect">
            <a:avLst/>
          </a:prstGeom>
          <a:noFill/>
          <a:ln w="9525">
            <a:noFill/>
          </a:ln>
        </p:spPr>
        <p:txBody>
          <a:bodyPr wrap="square" anchor="t">
            <a:spAutoFit/>
          </a:bodyPr>
          <a:p>
            <a:pPr algn="ctr" defTabSz="914400"/>
            <a:r>
              <a:rPr lang="en-US" altLang="zh-CN" sz="3200" dirty="0">
                <a:solidFill>
                  <a:srgbClr val="404040"/>
                </a:solidFill>
                <a:ea typeface="Calibri" panose="020F0502020204030204" pitchFamily="34" charset="0"/>
                <a:sym typeface="Arial" panose="020B0604020202090204" pitchFamily="34" charset="0"/>
              </a:rPr>
              <a:t>Student: Shukirillaev Mukhammadsodik		ID: 202438379</a:t>
            </a:r>
            <a:endParaRPr lang="en-US" altLang="zh-CN" sz="32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3966845" y="714375"/>
            <a:ext cx="3651250" cy="1014730"/>
          </a:xfrm>
          <a:prstGeom prst="rect">
            <a:avLst/>
          </a:prstGeom>
          <a:noFill/>
          <a:ln w="9525">
            <a:noFill/>
          </a:ln>
        </p:spPr>
        <p:txBody>
          <a:bodyPr wrap="square" anchor="t">
            <a:spAutoFit/>
          </a:bodyPr>
          <a:p>
            <a:pPr algn="ctr">
              <a:buFont typeface="Arial" panose="020B0604020202090204" pitchFamily="34" charset="0"/>
            </a:pPr>
            <a:r>
              <a:rPr lang="en-US" altLang="en-US" sz="6000" b="1" dirty="0">
                <a:solidFill>
                  <a:srgbClr val="404040"/>
                </a:solidFill>
                <a:ea typeface="Calibri" panose="020F0502020204030204" pitchFamily="34" charset="0"/>
              </a:rPr>
              <a:t>Objective</a:t>
            </a:r>
            <a:endParaRPr lang="en-US" altLang="en-US" sz="6000" b="1" dirty="0">
              <a:solidFill>
                <a:srgbClr val="404040"/>
              </a:solidFill>
              <a:ea typeface="Calibri" panose="020F0502020204030204" pitchFamily="34" charset="0"/>
            </a:endParaRPr>
          </a:p>
        </p:txBody>
      </p:sp>
      <p:sp>
        <p:nvSpPr>
          <p:cNvPr id="12" name="矩形 11"/>
          <p:cNvSpPr/>
          <p:nvPr/>
        </p:nvSpPr>
        <p:spPr>
          <a:xfrm>
            <a:off x="828675" y="1729105"/>
            <a:ext cx="10515600" cy="46532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3169920"/>
            <a:ext cx="9671685" cy="929640"/>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0255" name="矩形 8"/>
          <p:cNvSpPr/>
          <p:nvPr/>
        </p:nvSpPr>
        <p:spPr>
          <a:xfrm>
            <a:off x="1082675" y="1889125"/>
            <a:ext cx="10102215" cy="4272915"/>
          </a:xfrm>
          <a:prstGeom prst="rect">
            <a:avLst/>
          </a:prstGeom>
          <a:noFill/>
          <a:ln w="9525">
            <a:noFill/>
          </a:ln>
        </p:spPr>
        <p:txBody>
          <a:bodyPr wrap="square" lIns="0" tIns="0" rIns="0" bIns="0" anchor="t">
            <a:noAutofit/>
          </a:bodyPr>
          <a:p>
            <a:pPr marL="457200" lvl="1" indent="457200" algn="l" defTabSz="1216025">
              <a:lnSpc>
                <a:spcPct val="130000"/>
              </a:lnSpc>
              <a:spcBef>
                <a:spcPct val="20000"/>
              </a:spcBef>
              <a:buFont typeface="Arial" panose="020B0604020202090204" pitchFamily="34" charset="0"/>
            </a:pPr>
            <a:r>
              <a:rPr lang="en-US" altLang="en-US" sz="3200" b="1" dirty="0">
                <a:solidFill>
                  <a:srgbClr val="404040"/>
                </a:solidFill>
                <a:ea typeface="Calibri" panose="020F0502020204030204" pitchFamily="34" charset="0"/>
                <a:sym typeface="Arial" panose="020B0604020202090204" pitchFamily="34" charset="0"/>
              </a:rPr>
              <a:t>Part 1</a:t>
            </a:r>
            <a:r>
              <a:rPr lang="en-US" altLang="en-US" sz="3200" dirty="0">
                <a:solidFill>
                  <a:srgbClr val="404040"/>
                </a:solidFill>
                <a:ea typeface="Calibri" panose="020F0502020204030204" pitchFamily="34" charset="0"/>
                <a:sym typeface="Arial" panose="020B0604020202090204" pitchFamily="34" charset="0"/>
              </a:rPr>
              <a:t>: Clean and process the flight dataset</a:t>
            </a:r>
            <a:endParaRPr lang="en-US" altLang="en-US" sz="32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130000"/>
              </a:lnSpc>
              <a:spcBef>
                <a:spcPct val="20000"/>
              </a:spcBef>
              <a:buFont typeface="Arial" panose="020B0604020202090204" pitchFamily="34" charset="0"/>
            </a:pPr>
            <a:r>
              <a:rPr lang="en-US" altLang="en-US" sz="3200" b="1" dirty="0">
                <a:solidFill>
                  <a:srgbClr val="404040"/>
                </a:solidFill>
                <a:ea typeface="Calibri" panose="020F0502020204030204" pitchFamily="34" charset="0"/>
                <a:sym typeface="Arial" panose="020B0604020202090204" pitchFamily="34" charset="0"/>
              </a:rPr>
              <a:t>Part 2</a:t>
            </a:r>
            <a:r>
              <a:rPr lang="en-US" altLang="en-US" sz="3200" dirty="0">
                <a:solidFill>
                  <a:srgbClr val="404040"/>
                </a:solidFill>
                <a:ea typeface="Calibri" panose="020F0502020204030204" pitchFamily="34" charset="0"/>
                <a:sym typeface="Arial" panose="020B0604020202090204" pitchFamily="34" charset="0"/>
              </a:rPr>
              <a:t>: Identify the major causes of flight delays</a:t>
            </a:r>
            <a:endParaRPr lang="en-US" altLang="en-US" sz="32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130000"/>
              </a:lnSpc>
              <a:spcBef>
                <a:spcPct val="20000"/>
              </a:spcBef>
              <a:buFont typeface="Arial" panose="020B0604020202090204" pitchFamily="34" charset="0"/>
            </a:pPr>
            <a:r>
              <a:rPr lang="en-US" altLang="en-US" sz="3200" b="1" dirty="0">
                <a:solidFill>
                  <a:srgbClr val="404040"/>
                </a:solidFill>
                <a:ea typeface="Calibri" panose="020F0502020204030204" pitchFamily="34" charset="0"/>
                <a:sym typeface="Arial" panose="020B0604020202090204" pitchFamily="34" charset="0"/>
              </a:rPr>
              <a:t>Part 3</a:t>
            </a:r>
            <a:r>
              <a:rPr lang="en-US" altLang="en-US" sz="3200" dirty="0">
                <a:solidFill>
                  <a:srgbClr val="404040"/>
                </a:solidFill>
                <a:ea typeface="Calibri" panose="020F0502020204030204" pitchFamily="34" charset="0"/>
                <a:sym typeface="Arial" panose="020B0604020202090204" pitchFamily="34" charset="0"/>
              </a:rPr>
              <a:t>: Explore how factors like distance or weather influence delays</a:t>
            </a:r>
            <a:endParaRPr lang="en-US" altLang="en-US" sz="32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130000"/>
              </a:lnSpc>
              <a:spcBef>
                <a:spcPct val="20000"/>
              </a:spcBef>
              <a:buFont typeface="Arial" panose="020B0604020202090204" pitchFamily="34" charset="0"/>
            </a:pPr>
            <a:r>
              <a:rPr lang="en-US" altLang="en-US" sz="3200" b="1" dirty="0">
                <a:solidFill>
                  <a:srgbClr val="404040"/>
                </a:solidFill>
                <a:ea typeface="Calibri" panose="020F0502020204030204" pitchFamily="34" charset="0"/>
                <a:sym typeface="Arial" panose="020B0604020202090204" pitchFamily="34" charset="0"/>
              </a:rPr>
              <a:t>Part 4</a:t>
            </a:r>
            <a:r>
              <a:rPr lang="en-US" altLang="en-US" sz="3200" dirty="0">
                <a:solidFill>
                  <a:srgbClr val="404040"/>
                </a:solidFill>
                <a:ea typeface="Calibri" panose="020F0502020204030204" pitchFamily="34" charset="0"/>
                <a:sym typeface="Arial" panose="020B0604020202090204" pitchFamily="34" charset="0"/>
              </a:rPr>
              <a:t>: Visualize the delay patterns clearly</a:t>
            </a:r>
            <a:endParaRPr lang="en-US" altLang="en-US" sz="32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96520" y="90805"/>
            <a:ext cx="398907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Data Preparation</a:t>
            </a:r>
            <a:endParaRPr lang="en-US" altLang="en-US" sz="3600" b="1" dirty="0">
              <a:solidFill>
                <a:srgbClr val="404040"/>
              </a:solidFill>
              <a:ea typeface="Calibri" panose="020F0502020204030204" pitchFamily="34" charset="0"/>
            </a:endParaRPr>
          </a:p>
        </p:txBody>
      </p:sp>
      <p:sp>
        <p:nvSpPr>
          <p:cNvPr id="12" name="矩形 11"/>
          <p:cNvSpPr/>
          <p:nvPr/>
        </p:nvSpPr>
        <p:spPr>
          <a:xfrm>
            <a:off x="356870" y="857885"/>
            <a:ext cx="11423015" cy="56578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1922780"/>
            <a:ext cx="9671685" cy="735965"/>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0255" name="矩形 8"/>
          <p:cNvSpPr/>
          <p:nvPr/>
        </p:nvSpPr>
        <p:spPr>
          <a:xfrm>
            <a:off x="550545" y="1143635"/>
            <a:ext cx="11118215" cy="5241925"/>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Dataset Overview: Where I got the dataset?</a:t>
            </a:r>
            <a:endParaRPr lang="en-US" altLang="en-US" sz="24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Link: https://www.kaggle.com/code/fabiendaniel/predicting-flight-delays-tutorial</a:t>
            </a:r>
            <a:endParaRPr lang="en-US" altLang="en-US" sz="18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90000"/>
              </a:lnSpc>
              <a:spcBef>
                <a:spcPct val="20000"/>
              </a:spcBef>
              <a:buFont typeface="Arial" panose="020B0604020202090204" pitchFamily="34" charset="0"/>
            </a:pPr>
            <a:endParaRPr lang="en-US" altLang="en-US" sz="24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90000"/>
              </a:lnSpc>
              <a:spcBef>
                <a:spcPct val="20000"/>
              </a:spcBef>
              <a:buFont typeface="Arial" panose="020B0604020202090204" pitchFamily="34" charset="0"/>
            </a:pPr>
            <a:endParaRPr lang="en-US" altLang="en-US" sz="2400" dirty="0">
              <a:solidFill>
                <a:srgbClr val="404040"/>
              </a:solidFill>
              <a:ea typeface="Calibri" panose="020F0502020204030204" pitchFamily="34" charset="0"/>
              <a:sym typeface="Arial" panose="020B0604020202090204" pitchFamily="34" charset="0"/>
            </a:endParaRPr>
          </a:p>
        </p:txBody>
      </p:sp>
      <p:pic>
        <p:nvPicPr>
          <p:cNvPr id="2" name="Picture 1" descr="Screenshot 2025-11-04 at 5.09.03 PM"/>
          <p:cNvPicPr>
            <a:picLocks noChangeAspect="1"/>
          </p:cNvPicPr>
          <p:nvPr/>
        </p:nvPicPr>
        <p:blipFill>
          <a:blip r:embed="rId2"/>
          <a:stretch>
            <a:fillRect/>
          </a:stretch>
        </p:blipFill>
        <p:spPr>
          <a:xfrm>
            <a:off x="956945" y="1864995"/>
            <a:ext cx="7232650" cy="4520565"/>
          </a:xfrm>
          <a:prstGeom prst="rect">
            <a:avLst/>
          </a:prstGeom>
          <a:ln>
            <a:solidFill>
              <a:schemeClr val="accent1"/>
            </a:solidFill>
          </a:ln>
        </p:spPr>
      </p:pic>
      <p:pic>
        <p:nvPicPr>
          <p:cNvPr id="3" name="Picture 2" descr="Screenshot 2025-11-04 at 5.10.40 PM"/>
          <p:cNvPicPr>
            <a:picLocks noChangeAspect="1"/>
          </p:cNvPicPr>
          <p:nvPr/>
        </p:nvPicPr>
        <p:blipFill>
          <a:blip r:embed="rId3"/>
          <a:stretch>
            <a:fillRect/>
          </a:stretch>
        </p:blipFill>
        <p:spPr>
          <a:xfrm>
            <a:off x="7907020" y="2499995"/>
            <a:ext cx="3491230" cy="3250565"/>
          </a:xfrm>
          <a:prstGeom prst="rect">
            <a:avLst/>
          </a:prstGeom>
          <a:ln>
            <a:solidFill>
              <a:schemeClr val="accent1"/>
            </a:solidFill>
          </a:ln>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96520" y="90805"/>
            <a:ext cx="398907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Data Preparation</a:t>
            </a:r>
            <a:endParaRPr lang="en-US" altLang="en-US" sz="3600" b="1" dirty="0">
              <a:solidFill>
                <a:srgbClr val="404040"/>
              </a:solidFill>
              <a:ea typeface="Calibri" panose="020F0502020204030204" pitchFamily="34" charset="0"/>
            </a:endParaRPr>
          </a:p>
        </p:txBody>
      </p:sp>
      <p:sp>
        <p:nvSpPr>
          <p:cNvPr id="12" name="矩形 11"/>
          <p:cNvSpPr/>
          <p:nvPr/>
        </p:nvSpPr>
        <p:spPr>
          <a:xfrm>
            <a:off x="356870" y="857885"/>
            <a:ext cx="11423015" cy="56578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1922780"/>
            <a:ext cx="9671685" cy="735965"/>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0255" name="矩形 8"/>
          <p:cNvSpPr/>
          <p:nvPr/>
        </p:nvSpPr>
        <p:spPr>
          <a:xfrm>
            <a:off x="550545" y="1022985"/>
            <a:ext cx="11118215" cy="5362575"/>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What’s inside?</a:t>
            </a:r>
            <a:endParaRPr lang="en-US" altLang="en-US" sz="2400" dirty="0">
              <a:solidFill>
                <a:srgbClr val="404040"/>
              </a:solidFill>
              <a:ea typeface="Calibri" panose="020F0502020204030204" pitchFamily="34" charset="0"/>
              <a:sym typeface="Arial" panose="020B0604020202090204" pitchFamily="34" charset="0"/>
            </a:endParaRPr>
          </a:p>
        </p:txBody>
      </p:sp>
      <p:pic>
        <p:nvPicPr>
          <p:cNvPr id="3" name="Picture 2" descr="Screenshot 2025-11-04 at 5.11.43 PM"/>
          <p:cNvPicPr>
            <a:picLocks noChangeAspect="1"/>
          </p:cNvPicPr>
          <p:nvPr/>
        </p:nvPicPr>
        <p:blipFill>
          <a:blip r:embed="rId2"/>
          <a:srcRect b="55466"/>
          <a:stretch>
            <a:fillRect/>
          </a:stretch>
        </p:blipFill>
        <p:spPr>
          <a:xfrm>
            <a:off x="6626860" y="1092835"/>
            <a:ext cx="5279390" cy="4286885"/>
          </a:xfrm>
          <a:prstGeom prst="rect">
            <a:avLst/>
          </a:prstGeom>
          <a:ln>
            <a:solidFill>
              <a:schemeClr val="accent1"/>
            </a:solidFill>
          </a:ln>
        </p:spPr>
      </p:pic>
      <p:sp>
        <p:nvSpPr>
          <p:cNvPr id="4" name="Rectangles 3"/>
          <p:cNvSpPr/>
          <p:nvPr/>
        </p:nvSpPr>
        <p:spPr>
          <a:xfrm>
            <a:off x="8373745" y="3612515"/>
            <a:ext cx="1578610" cy="25654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5" name="Picture 4" descr="Screenshot 2025-11-04 at 5.12.52 PM"/>
          <p:cNvPicPr>
            <a:picLocks noChangeAspect="1"/>
          </p:cNvPicPr>
          <p:nvPr/>
        </p:nvPicPr>
        <p:blipFill>
          <a:blip r:embed="rId3"/>
          <a:stretch>
            <a:fillRect/>
          </a:stretch>
        </p:blipFill>
        <p:spPr>
          <a:xfrm>
            <a:off x="1023620" y="4449445"/>
            <a:ext cx="6179820" cy="1254125"/>
          </a:xfrm>
          <a:prstGeom prst="rect">
            <a:avLst/>
          </a:prstGeom>
          <a:ln w="28575">
            <a:solidFill>
              <a:srgbClr val="FF0000"/>
            </a:solidFill>
          </a:ln>
        </p:spPr>
      </p:pic>
      <p:cxnSp>
        <p:nvCxnSpPr>
          <p:cNvPr id="6" name="Straight Connector 5"/>
          <p:cNvCxnSpPr/>
          <p:nvPr/>
        </p:nvCxnSpPr>
        <p:spPr>
          <a:xfrm flipH="1">
            <a:off x="7226846" y="3638391"/>
            <a:ext cx="1180465" cy="820420"/>
          </a:xfrm>
          <a:prstGeom prst="line">
            <a:avLst/>
          </a:prstGeom>
          <a:ln w="28575" cap="flat" cmpd="sng">
            <a:solidFill>
              <a:srgbClr val="FF0000"/>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7" name="Straight Connector 6"/>
          <p:cNvCxnSpPr/>
          <p:nvPr/>
        </p:nvCxnSpPr>
        <p:spPr>
          <a:xfrm flipH="1">
            <a:off x="7240181" y="3858736"/>
            <a:ext cx="1151255" cy="1811020"/>
          </a:xfrm>
          <a:prstGeom prst="line">
            <a:avLst/>
          </a:prstGeom>
          <a:ln w="28575" cap="flat" cmpd="sng">
            <a:solidFill>
              <a:srgbClr val="FF0000"/>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pic>
        <p:nvPicPr>
          <p:cNvPr id="8" name="Picture 7" descr="Screenshot 2025-11-04 at 5.20.59 PM"/>
          <p:cNvPicPr>
            <a:picLocks noChangeAspect="1"/>
          </p:cNvPicPr>
          <p:nvPr/>
        </p:nvPicPr>
        <p:blipFill>
          <a:blip r:embed="rId4"/>
          <a:stretch>
            <a:fillRect/>
          </a:stretch>
        </p:blipFill>
        <p:spPr>
          <a:xfrm>
            <a:off x="789305" y="1696085"/>
            <a:ext cx="5306695" cy="2061845"/>
          </a:xfrm>
          <a:prstGeom prst="rect">
            <a:avLst/>
          </a:prstGeom>
          <a:ln>
            <a:solidFill>
              <a:schemeClr val="accent1"/>
            </a:solidFill>
          </a:ln>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96520" y="90805"/>
            <a:ext cx="398907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Data Preparation</a:t>
            </a:r>
            <a:endParaRPr lang="en-US" altLang="en-US" sz="3600" b="1" dirty="0">
              <a:solidFill>
                <a:srgbClr val="404040"/>
              </a:solidFill>
              <a:ea typeface="Calibri" panose="020F0502020204030204" pitchFamily="34" charset="0"/>
            </a:endParaRPr>
          </a:p>
        </p:txBody>
      </p:sp>
      <p:sp>
        <p:nvSpPr>
          <p:cNvPr id="12" name="矩形 11"/>
          <p:cNvSpPr/>
          <p:nvPr/>
        </p:nvSpPr>
        <p:spPr>
          <a:xfrm>
            <a:off x="356870" y="857885"/>
            <a:ext cx="11423015" cy="56578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1922780"/>
            <a:ext cx="9671685" cy="735965"/>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0255" name="矩形 8"/>
          <p:cNvSpPr/>
          <p:nvPr/>
        </p:nvSpPr>
        <p:spPr>
          <a:xfrm>
            <a:off x="550545" y="1022985"/>
            <a:ext cx="11118215" cy="5362575"/>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Trimming &amp; Creating a new file to work with</a:t>
            </a:r>
            <a:endParaRPr lang="en-US" altLang="en-US" sz="2400" dirty="0">
              <a:solidFill>
                <a:srgbClr val="404040"/>
              </a:solidFill>
              <a:ea typeface="Calibri" panose="020F0502020204030204" pitchFamily="34" charset="0"/>
              <a:sym typeface="Arial" panose="020B0604020202090204" pitchFamily="34" charset="0"/>
            </a:endParaRPr>
          </a:p>
        </p:txBody>
      </p:sp>
      <p:pic>
        <p:nvPicPr>
          <p:cNvPr id="2" name="Picture 1" descr="Screenshot 2025-11-04 at 5.17.34 PM"/>
          <p:cNvPicPr>
            <a:picLocks noChangeAspect="1"/>
          </p:cNvPicPr>
          <p:nvPr/>
        </p:nvPicPr>
        <p:blipFill>
          <a:blip r:embed="rId2"/>
          <a:stretch>
            <a:fillRect/>
          </a:stretch>
        </p:blipFill>
        <p:spPr>
          <a:xfrm>
            <a:off x="469900" y="1762760"/>
            <a:ext cx="5349875" cy="3332480"/>
          </a:xfrm>
          <a:prstGeom prst="rect">
            <a:avLst/>
          </a:prstGeom>
          <a:ln>
            <a:solidFill>
              <a:schemeClr val="accent1"/>
            </a:solidFill>
          </a:ln>
        </p:spPr>
      </p:pic>
      <p:sp>
        <p:nvSpPr>
          <p:cNvPr id="4" name="Rectangles 3"/>
          <p:cNvSpPr/>
          <p:nvPr/>
        </p:nvSpPr>
        <p:spPr>
          <a:xfrm>
            <a:off x="1781175" y="3287395"/>
            <a:ext cx="1578610" cy="25654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8" name="Picture 7" descr="Screenshot 2025-11-04 at 5.18.35 PM"/>
          <p:cNvPicPr>
            <a:picLocks noChangeAspect="1"/>
          </p:cNvPicPr>
          <p:nvPr/>
        </p:nvPicPr>
        <p:blipFill>
          <a:blip r:embed="rId3"/>
          <a:stretch>
            <a:fillRect/>
          </a:stretch>
        </p:blipFill>
        <p:spPr>
          <a:xfrm>
            <a:off x="6280150" y="1416685"/>
            <a:ext cx="4686300" cy="889000"/>
          </a:xfrm>
          <a:prstGeom prst="rect">
            <a:avLst/>
          </a:prstGeom>
          <a:ln>
            <a:solidFill>
              <a:schemeClr val="accent1"/>
            </a:solidFill>
          </a:ln>
        </p:spPr>
      </p:pic>
      <p:pic>
        <p:nvPicPr>
          <p:cNvPr id="10" name="Picture 9" descr="Screenshot 2025-11-04 at 5.21.26 PM"/>
          <p:cNvPicPr>
            <a:picLocks noChangeAspect="1"/>
          </p:cNvPicPr>
          <p:nvPr/>
        </p:nvPicPr>
        <p:blipFill>
          <a:blip r:embed="rId4"/>
          <a:stretch>
            <a:fillRect/>
          </a:stretch>
        </p:blipFill>
        <p:spPr>
          <a:xfrm>
            <a:off x="6280150" y="2489200"/>
            <a:ext cx="4686300" cy="3333115"/>
          </a:xfrm>
          <a:prstGeom prst="rect">
            <a:avLst/>
          </a:prstGeom>
          <a:ln>
            <a:solidFill>
              <a:schemeClr val="accent1"/>
            </a:solidFill>
          </a:ln>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96520" y="90805"/>
            <a:ext cx="398907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Data Preparation</a:t>
            </a:r>
            <a:endParaRPr lang="en-US" altLang="en-US" sz="3600" b="1" dirty="0">
              <a:solidFill>
                <a:srgbClr val="404040"/>
              </a:solidFill>
              <a:ea typeface="Calibri" panose="020F0502020204030204" pitchFamily="34" charset="0"/>
            </a:endParaRPr>
          </a:p>
        </p:txBody>
      </p:sp>
      <p:sp>
        <p:nvSpPr>
          <p:cNvPr id="10253" name="文本框 6"/>
          <p:cNvSpPr txBox="1"/>
          <p:nvPr/>
        </p:nvSpPr>
        <p:spPr>
          <a:xfrm>
            <a:off x="956945" y="1922780"/>
            <a:ext cx="9671685" cy="735965"/>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0255" name="矩形 8"/>
          <p:cNvSpPr/>
          <p:nvPr/>
        </p:nvSpPr>
        <p:spPr>
          <a:xfrm>
            <a:off x="550545" y="1022985"/>
            <a:ext cx="11118215" cy="5362575"/>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Working on a new file:</a:t>
            </a:r>
            <a:endParaRPr lang="en-US" altLang="en-US" sz="2400" dirty="0">
              <a:solidFill>
                <a:srgbClr val="404040"/>
              </a:solidFill>
              <a:ea typeface="Calibri" panose="020F0502020204030204" pitchFamily="34" charset="0"/>
              <a:sym typeface="Arial" panose="020B0604020202090204" pitchFamily="34" charset="0"/>
            </a:endParaRPr>
          </a:p>
        </p:txBody>
      </p:sp>
      <p:pic>
        <p:nvPicPr>
          <p:cNvPr id="3" name="Picture 2" descr="Screenshot 2025-11-04 at 5.24.01 PM"/>
          <p:cNvPicPr>
            <a:picLocks noChangeAspect="1"/>
          </p:cNvPicPr>
          <p:nvPr/>
        </p:nvPicPr>
        <p:blipFill>
          <a:blip r:embed="rId2"/>
          <a:stretch>
            <a:fillRect/>
          </a:stretch>
        </p:blipFill>
        <p:spPr>
          <a:xfrm>
            <a:off x="311785" y="1598930"/>
            <a:ext cx="4620895" cy="3630930"/>
          </a:xfrm>
          <a:prstGeom prst="rect">
            <a:avLst/>
          </a:prstGeom>
        </p:spPr>
      </p:pic>
      <p:pic>
        <p:nvPicPr>
          <p:cNvPr id="5" name="Picture 4" descr="Screenshot 2025-11-04 at 5.24.15 PM"/>
          <p:cNvPicPr>
            <a:picLocks noChangeAspect="1"/>
          </p:cNvPicPr>
          <p:nvPr/>
        </p:nvPicPr>
        <p:blipFill>
          <a:blip r:embed="rId3"/>
          <a:srcRect r="44860"/>
          <a:stretch>
            <a:fillRect/>
          </a:stretch>
        </p:blipFill>
        <p:spPr>
          <a:xfrm>
            <a:off x="5204460" y="1598930"/>
            <a:ext cx="6668770" cy="3675380"/>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96520" y="90805"/>
            <a:ext cx="398907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Data Preparation</a:t>
            </a:r>
            <a:endParaRPr lang="en-US" altLang="en-US" sz="3600" b="1" dirty="0">
              <a:solidFill>
                <a:srgbClr val="404040"/>
              </a:solidFill>
              <a:ea typeface="Calibri" panose="020F0502020204030204" pitchFamily="34" charset="0"/>
            </a:endParaRPr>
          </a:p>
        </p:txBody>
      </p:sp>
      <p:sp>
        <p:nvSpPr>
          <p:cNvPr id="10253" name="文本框 6"/>
          <p:cNvSpPr txBox="1"/>
          <p:nvPr/>
        </p:nvSpPr>
        <p:spPr>
          <a:xfrm>
            <a:off x="956945" y="1922780"/>
            <a:ext cx="9671685" cy="735965"/>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0255" name="矩形 8"/>
          <p:cNvSpPr/>
          <p:nvPr/>
        </p:nvSpPr>
        <p:spPr>
          <a:xfrm>
            <a:off x="202565" y="1022985"/>
            <a:ext cx="10509250" cy="1496695"/>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2000" dirty="0">
                <a:solidFill>
                  <a:srgbClr val="404040"/>
                </a:solidFill>
                <a:ea typeface="Calibri" panose="020F0502020204030204" pitchFamily="34" charset="0"/>
                <a:sym typeface="Arial" panose="020B0604020202090204" pitchFamily="34" charset="0"/>
              </a:rPr>
              <a:t>I removed unnecessary columns such as ‘Year’, ‘Month’, and ‘UniqueCarrier’ since they had the same values for all flights.</a:t>
            </a:r>
            <a:endParaRPr lang="en-US" altLang="en-US" sz="20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90000"/>
              </a:lnSpc>
              <a:spcBef>
                <a:spcPct val="20000"/>
              </a:spcBef>
              <a:buFont typeface="Arial" panose="020B0604020202090204" pitchFamily="34" charset="0"/>
            </a:pPr>
            <a:r>
              <a:rPr lang="en-US" altLang="en-US" sz="2000" dirty="0">
                <a:solidFill>
                  <a:srgbClr val="404040"/>
                </a:solidFill>
                <a:ea typeface="Calibri" panose="020F0502020204030204" pitchFamily="34" charset="0"/>
                <a:sym typeface="Arial" panose="020B0604020202090204" pitchFamily="34" charset="0"/>
              </a:rPr>
              <a:t>I also checked for missing values and handled them properly.</a:t>
            </a:r>
            <a:endParaRPr lang="en-US" altLang="en-US" sz="2000" dirty="0">
              <a:solidFill>
                <a:srgbClr val="404040"/>
              </a:solidFill>
              <a:ea typeface="Calibri" panose="020F0502020204030204" pitchFamily="34" charset="0"/>
              <a:sym typeface="Arial" panose="020B0604020202090204" pitchFamily="34" charset="0"/>
            </a:endParaRPr>
          </a:p>
        </p:txBody>
      </p:sp>
      <p:pic>
        <p:nvPicPr>
          <p:cNvPr id="2" name="Picture 1" descr="Screenshot 2025-11-04 at 5.28.22 PM"/>
          <p:cNvPicPr>
            <a:picLocks noChangeAspect="1"/>
          </p:cNvPicPr>
          <p:nvPr/>
        </p:nvPicPr>
        <p:blipFill>
          <a:blip r:embed="rId2"/>
          <a:stretch>
            <a:fillRect/>
          </a:stretch>
        </p:blipFill>
        <p:spPr>
          <a:xfrm>
            <a:off x="942975" y="1964690"/>
            <a:ext cx="10012680" cy="1129665"/>
          </a:xfrm>
          <a:prstGeom prst="rect">
            <a:avLst/>
          </a:prstGeom>
        </p:spPr>
      </p:pic>
      <p:pic>
        <p:nvPicPr>
          <p:cNvPr id="6" name="Picture 5" descr="Screenshot 2025-11-04 at 5.28.58 PM"/>
          <p:cNvPicPr>
            <a:picLocks noChangeAspect="1"/>
          </p:cNvPicPr>
          <p:nvPr/>
        </p:nvPicPr>
        <p:blipFill>
          <a:blip r:embed="rId3"/>
          <a:stretch>
            <a:fillRect/>
          </a:stretch>
        </p:blipFill>
        <p:spPr>
          <a:xfrm>
            <a:off x="5831205" y="3175635"/>
            <a:ext cx="6264275" cy="2758440"/>
          </a:xfrm>
          <a:prstGeom prst="rect">
            <a:avLst/>
          </a:prstGeom>
        </p:spPr>
      </p:pic>
      <p:pic>
        <p:nvPicPr>
          <p:cNvPr id="7" name="Picture 6" descr="Screenshot 2025-11-04 at 5.30.02 PM"/>
          <p:cNvPicPr>
            <a:picLocks noChangeAspect="1"/>
          </p:cNvPicPr>
          <p:nvPr/>
        </p:nvPicPr>
        <p:blipFill>
          <a:blip r:embed="rId4"/>
          <a:stretch>
            <a:fillRect/>
          </a:stretch>
        </p:blipFill>
        <p:spPr>
          <a:xfrm>
            <a:off x="248920" y="3175635"/>
            <a:ext cx="5475605" cy="3283585"/>
          </a:xfrm>
          <a:prstGeom prst="rect">
            <a:avLst/>
          </a:prstGeom>
        </p:spPr>
      </p:pic>
      <p:sp>
        <p:nvSpPr>
          <p:cNvPr id="8" name="Rectangles 7"/>
          <p:cNvSpPr/>
          <p:nvPr/>
        </p:nvSpPr>
        <p:spPr>
          <a:xfrm>
            <a:off x="248920" y="6202680"/>
            <a:ext cx="1468120" cy="25654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Rectangles 3"/>
          <p:cNvSpPr/>
          <p:nvPr/>
        </p:nvSpPr>
        <p:spPr>
          <a:xfrm>
            <a:off x="5831205" y="5677535"/>
            <a:ext cx="1370330" cy="25654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6988175" y="200660"/>
            <a:ext cx="5019675" cy="1223010"/>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3200" dirty="0">
                <a:solidFill>
                  <a:srgbClr val="404040"/>
                </a:solidFill>
                <a:ea typeface="Calibri" panose="020F0502020204030204" pitchFamily="34" charset="0"/>
                <a:sym typeface="Arial" panose="020B0604020202090204" pitchFamily="34" charset="0"/>
              </a:rPr>
              <a:t>What are we gonna do with the same values?</a:t>
            </a:r>
            <a:endParaRPr lang="en-US" altLang="en-US" sz="3200" dirty="0">
              <a:solidFill>
                <a:srgbClr val="404040"/>
              </a:solidFill>
              <a:ea typeface="Calibri" panose="020F0502020204030204" pitchFamily="34" charset="0"/>
              <a:sym typeface="Arial" panose="020B0604020202090204" pitchFamily="34" charset="0"/>
            </a:endParaRPr>
          </a:p>
        </p:txBody>
      </p:sp>
      <p:pic>
        <p:nvPicPr>
          <p:cNvPr id="3" name="Picture 2" descr="Screenshot 2025-11-04 at 5.32.35 PM"/>
          <p:cNvPicPr>
            <a:picLocks noChangeAspect="1"/>
          </p:cNvPicPr>
          <p:nvPr/>
        </p:nvPicPr>
        <p:blipFill>
          <a:blip r:embed="rId2"/>
          <a:stretch>
            <a:fillRect/>
          </a:stretch>
        </p:blipFill>
        <p:spPr>
          <a:xfrm>
            <a:off x="277495" y="187325"/>
            <a:ext cx="6710680" cy="6576695"/>
          </a:xfrm>
          <a:prstGeom prst="rect">
            <a:avLst/>
          </a:prstGeom>
        </p:spPr>
      </p:pic>
      <p:sp>
        <p:nvSpPr>
          <p:cNvPr id="8" name="Rectangles 7"/>
          <p:cNvSpPr/>
          <p:nvPr/>
        </p:nvSpPr>
        <p:spPr>
          <a:xfrm>
            <a:off x="3718560" y="1022985"/>
            <a:ext cx="2468880" cy="322072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Rectangles 4"/>
          <p:cNvSpPr/>
          <p:nvPr/>
        </p:nvSpPr>
        <p:spPr>
          <a:xfrm>
            <a:off x="347345" y="6154420"/>
            <a:ext cx="768985" cy="49530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9" name="Picture 8" descr="Screenshot 2025-11-04 at 5.34.39 PM"/>
          <p:cNvPicPr>
            <a:picLocks noChangeAspect="1"/>
          </p:cNvPicPr>
          <p:nvPr/>
        </p:nvPicPr>
        <p:blipFill>
          <a:blip r:embed="rId3"/>
          <a:stretch>
            <a:fillRect/>
          </a:stretch>
        </p:blipFill>
        <p:spPr>
          <a:xfrm>
            <a:off x="7145655" y="1158240"/>
            <a:ext cx="4833620" cy="4269740"/>
          </a:xfrm>
          <a:prstGeom prst="rect">
            <a:avLst/>
          </a:prstGeom>
        </p:spPr>
      </p:pic>
      <p:pic>
        <p:nvPicPr>
          <p:cNvPr id="2" name="Picture 1" descr="Screenshot 2025-11-04 at 5.38.19 PM"/>
          <p:cNvPicPr>
            <a:picLocks noChangeAspect="1"/>
          </p:cNvPicPr>
          <p:nvPr/>
        </p:nvPicPr>
        <p:blipFill>
          <a:blip r:embed="rId4"/>
          <a:stretch>
            <a:fillRect/>
          </a:stretch>
        </p:blipFill>
        <p:spPr>
          <a:xfrm>
            <a:off x="7841615" y="5481320"/>
            <a:ext cx="3441700" cy="1168400"/>
          </a:xfrm>
          <a:prstGeom prst="rect">
            <a:avLst/>
          </a:prstGeom>
        </p:spPr>
      </p:pic>
      <p:cxnSp>
        <p:nvCxnSpPr>
          <p:cNvPr id="4" name="Curved Connector 3"/>
          <p:cNvCxnSpPr/>
          <p:nvPr/>
        </p:nvCxnSpPr>
        <p:spPr>
          <a:xfrm rot="16200000" flipV="1">
            <a:off x="6289675" y="4697095"/>
            <a:ext cx="1708785" cy="1081405"/>
          </a:xfrm>
          <a:prstGeom prst="curvedConnector3">
            <a:avLst>
              <a:gd name="adj1" fmla="val -3455"/>
            </a:avLst>
          </a:prstGeom>
          <a:ln w="44450">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96520" y="1494790"/>
            <a:ext cx="4700905" cy="1533525"/>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3200" dirty="0">
                <a:solidFill>
                  <a:srgbClr val="404040"/>
                </a:solidFill>
                <a:ea typeface="Calibri" panose="020F0502020204030204" pitchFamily="34" charset="0"/>
                <a:sym typeface="Arial" panose="020B0604020202090204" pitchFamily="34" charset="0"/>
              </a:rPr>
              <a:t>Let’s check if the are more columns to get rid of</a:t>
            </a:r>
            <a:endParaRPr lang="en-US" altLang="en-US" sz="32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398907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Data Preparation</a:t>
            </a:r>
            <a:endParaRPr lang="en-US" altLang="en-US" sz="3600" b="1" dirty="0">
              <a:solidFill>
                <a:srgbClr val="404040"/>
              </a:solidFill>
              <a:ea typeface="Calibri" panose="020F0502020204030204" pitchFamily="34" charset="0"/>
            </a:endParaRPr>
          </a:p>
        </p:txBody>
      </p:sp>
      <p:pic>
        <p:nvPicPr>
          <p:cNvPr id="7" name="Picture 6" descr="Screenshot 2025-11-04 at 5.43.48 PM"/>
          <p:cNvPicPr>
            <a:picLocks noChangeAspect="1"/>
          </p:cNvPicPr>
          <p:nvPr/>
        </p:nvPicPr>
        <p:blipFill>
          <a:blip r:embed="rId2"/>
          <a:stretch>
            <a:fillRect/>
          </a:stretch>
        </p:blipFill>
        <p:spPr>
          <a:xfrm>
            <a:off x="6141720" y="332105"/>
            <a:ext cx="5088255" cy="6193155"/>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96520" y="1200150"/>
            <a:ext cx="8086090" cy="1533525"/>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The first few (only 4 missing) can safely be filled or dropped.</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5998845"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rPr>
              <a:t>Data Preparation</a:t>
            </a:r>
            <a:endParaRPr lang="en-US" altLang="en-US" sz="4000" b="1" dirty="0">
              <a:solidFill>
                <a:srgbClr val="404040"/>
              </a:solidFill>
              <a:ea typeface="Calibri" panose="020F0502020204030204" pitchFamily="34" charset="0"/>
            </a:endParaRPr>
          </a:p>
        </p:txBody>
      </p:sp>
      <p:pic>
        <p:nvPicPr>
          <p:cNvPr id="2" name="Picture 1" descr="Screenshot 2025-11-04 at 5.44.51 PM"/>
          <p:cNvPicPr>
            <a:picLocks noChangeAspect="1"/>
          </p:cNvPicPr>
          <p:nvPr/>
        </p:nvPicPr>
        <p:blipFill>
          <a:blip r:embed="rId2"/>
          <a:stretch>
            <a:fillRect/>
          </a:stretch>
        </p:blipFill>
        <p:spPr>
          <a:xfrm>
            <a:off x="9032875" y="62230"/>
            <a:ext cx="2860040" cy="6698615"/>
          </a:xfrm>
          <a:prstGeom prst="rect">
            <a:avLst/>
          </a:prstGeom>
        </p:spPr>
      </p:pic>
      <p:pic>
        <p:nvPicPr>
          <p:cNvPr id="3" name="Picture 2" descr="Screenshot 2025-11-04 at 5.48.01 PM"/>
          <p:cNvPicPr>
            <a:picLocks noChangeAspect="1"/>
          </p:cNvPicPr>
          <p:nvPr/>
        </p:nvPicPr>
        <p:blipFill>
          <a:blip r:embed="rId3"/>
          <a:stretch>
            <a:fillRect/>
          </a:stretch>
        </p:blipFill>
        <p:spPr>
          <a:xfrm>
            <a:off x="326390" y="2431415"/>
            <a:ext cx="8318500" cy="1549400"/>
          </a:xfrm>
          <a:prstGeom prst="rect">
            <a:avLst/>
          </a:prstGeom>
        </p:spPr>
      </p:pic>
      <p:sp>
        <p:nvSpPr>
          <p:cNvPr id="4" name="Rectangles 3"/>
          <p:cNvSpPr/>
          <p:nvPr/>
        </p:nvSpPr>
        <p:spPr>
          <a:xfrm>
            <a:off x="9253855" y="5283200"/>
            <a:ext cx="2299970" cy="116903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6" name="Picture 5" descr="Screenshot 2025-11-04 at 5.50.42 PM"/>
          <p:cNvPicPr>
            <a:picLocks noChangeAspect="1"/>
          </p:cNvPicPr>
          <p:nvPr/>
        </p:nvPicPr>
        <p:blipFill>
          <a:blip r:embed="rId4"/>
          <a:stretch>
            <a:fillRect/>
          </a:stretch>
        </p:blipFill>
        <p:spPr>
          <a:xfrm>
            <a:off x="1828165" y="4307205"/>
            <a:ext cx="4267200" cy="2145030"/>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96520" y="1102360"/>
            <a:ext cx="5431155" cy="1533525"/>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Visualizing the missing values using </a:t>
            </a:r>
            <a:r>
              <a:rPr lang="en-US" altLang="en-US" sz="2400" b="1" dirty="0">
                <a:solidFill>
                  <a:srgbClr val="404040"/>
                </a:solidFill>
                <a:ea typeface="Calibri" panose="020F0502020204030204" pitchFamily="34" charset="0"/>
                <a:sym typeface="Arial" panose="020B0604020202090204" pitchFamily="34" charset="0"/>
              </a:rPr>
              <a:t>Seaborn</a:t>
            </a:r>
            <a:endParaRPr lang="en-US" altLang="en-US" sz="2400" b="1"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5998845"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rPr>
              <a:t>Data Preparation</a:t>
            </a:r>
            <a:endParaRPr lang="en-US" altLang="en-US" sz="4000" b="1" dirty="0">
              <a:solidFill>
                <a:srgbClr val="404040"/>
              </a:solidFill>
              <a:ea typeface="Calibri" panose="020F0502020204030204" pitchFamily="34" charset="0"/>
            </a:endParaRPr>
          </a:p>
        </p:txBody>
      </p:sp>
      <p:pic>
        <p:nvPicPr>
          <p:cNvPr id="5" name="Picture 4" descr="Screenshot 2025-11-05 at 5.11.05 PM"/>
          <p:cNvPicPr>
            <a:picLocks noChangeAspect="1"/>
          </p:cNvPicPr>
          <p:nvPr/>
        </p:nvPicPr>
        <p:blipFill>
          <a:blip r:embed="rId2"/>
          <a:srcRect t="23065"/>
          <a:stretch>
            <a:fillRect/>
          </a:stretch>
        </p:blipFill>
        <p:spPr>
          <a:xfrm>
            <a:off x="6010275" y="450850"/>
            <a:ext cx="5893435" cy="5956935"/>
          </a:xfrm>
          <a:prstGeom prst="rect">
            <a:avLst/>
          </a:prstGeom>
        </p:spPr>
      </p:pic>
      <p:pic>
        <p:nvPicPr>
          <p:cNvPr id="7" name="Picture 6" descr="Screenshot 2025-11-05 at 5.11.05 PM"/>
          <p:cNvPicPr>
            <a:picLocks noChangeAspect="1"/>
          </p:cNvPicPr>
          <p:nvPr/>
        </p:nvPicPr>
        <p:blipFill>
          <a:blip r:embed="rId2"/>
          <a:srcRect b="82019"/>
          <a:stretch>
            <a:fillRect/>
          </a:stretch>
        </p:blipFill>
        <p:spPr>
          <a:xfrm>
            <a:off x="96520" y="5039360"/>
            <a:ext cx="5791835" cy="1368425"/>
          </a:xfrm>
          <a:prstGeom prst="rect">
            <a:avLst/>
          </a:prstGeom>
        </p:spPr>
      </p:pic>
      <p:pic>
        <p:nvPicPr>
          <p:cNvPr id="8" name="Picture 7" descr="Screenshot 2025-11-04 at 5.50.42 PM"/>
          <p:cNvPicPr>
            <a:picLocks noChangeAspect="1"/>
          </p:cNvPicPr>
          <p:nvPr/>
        </p:nvPicPr>
        <p:blipFill>
          <a:blip r:embed="rId3"/>
          <a:stretch>
            <a:fillRect/>
          </a:stretch>
        </p:blipFill>
        <p:spPr>
          <a:xfrm>
            <a:off x="766445" y="2357120"/>
            <a:ext cx="4267200" cy="2145030"/>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574040" y="1249045"/>
            <a:ext cx="10724515" cy="1062355"/>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Most flight delays came from late aircraft arrivals and airline issues, while weather and security delays were rare. This shows that delays mostly happen because of internal scheduling problems, not external conditions.</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5998845"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rPr>
              <a:t>Data Preparation</a:t>
            </a:r>
            <a:endParaRPr lang="en-US" altLang="en-US" sz="4000" b="1" dirty="0">
              <a:solidFill>
                <a:srgbClr val="404040"/>
              </a:solidFill>
              <a:ea typeface="Calibri" panose="020F0502020204030204" pitchFamily="34" charset="0"/>
            </a:endParaRPr>
          </a:p>
        </p:txBody>
      </p:sp>
      <p:pic>
        <p:nvPicPr>
          <p:cNvPr id="4" name="Picture 3" descr="Screenshot 2025-11-05 at 5.20.14 PM"/>
          <p:cNvPicPr>
            <a:picLocks noChangeAspect="1"/>
          </p:cNvPicPr>
          <p:nvPr/>
        </p:nvPicPr>
        <p:blipFill>
          <a:blip r:embed="rId2"/>
          <a:srcRect b="65236"/>
          <a:stretch>
            <a:fillRect/>
          </a:stretch>
        </p:blipFill>
        <p:spPr>
          <a:xfrm>
            <a:off x="1029335" y="2731770"/>
            <a:ext cx="9690100" cy="843280"/>
          </a:xfrm>
          <a:prstGeom prst="rect">
            <a:avLst/>
          </a:prstGeom>
        </p:spPr>
      </p:pic>
      <p:pic>
        <p:nvPicPr>
          <p:cNvPr id="6" name="Picture 5" descr="Screenshot 2025-11-05 at 5.20.31 PM"/>
          <p:cNvPicPr>
            <a:picLocks noChangeAspect="1"/>
          </p:cNvPicPr>
          <p:nvPr/>
        </p:nvPicPr>
        <p:blipFill>
          <a:blip r:embed="rId3"/>
          <a:srcRect t="8994"/>
          <a:stretch>
            <a:fillRect/>
          </a:stretch>
        </p:blipFill>
        <p:spPr>
          <a:xfrm>
            <a:off x="1029335" y="3562985"/>
            <a:ext cx="9690735" cy="1355725"/>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574040" y="1249045"/>
            <a:ext cx="10724515" cy="1062355"/>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We replaced missing delay values with 0 because in this dataset, missing means no delay. This helps make the analysis accurate and prevents errors when calculating averages.</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5998845"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rPr>
              <a:t>Data Preparation</a:t>
            </a:r>
            <a:endParaRPr lang="en-US" altLang="en-US" sz="4000" b="1" dirty="0">
              <a:solidFill>
                <a:srgbClr val="404040"/>
              </a:solidFill>
              <a:ea typeface="Calibri" panose="020F0502020204030204" pitchFamily="34" charset="0"/>
            </a:endParaRPr>
          </a:p>
        </p:txBody>
      </p:sp>
      <p:pic>
        <p:nvPicPr>
          <p:cNvPr id="2" name="Picture 1" descr="Screenshot 2025-11-05 at 5.22.37 PM"/>
          <p:cNvPicPr>
            <a:picLocks noChangeAspect="1"/>
          </p:cNvPicPr>
          <p:nvPr/>
        </p:nvPicPr>
        <p:blipFill>
          <a:blip r:embed="rId2"/>
          <a:stretch>
            <a:fillRect/>
          </a:stretch>
        </p:blipFill>
        <p:spPr>
          <a:xfrm>
            <a:off x="967740" y="2571115"/>
            <a:ext cx="9232900" cy="3632200"/>
          </a:xfrm>
          <a:prstGeom prst="rect">
            <a:avLst/>
          </a:prstGeom>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574040" y="1249045"/>
            <a:ext cx="10724515" cy="1062355"/>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This code adds up all delay minutes by cause and shows which reason caused the most total delay.</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11864340"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sym typeface="Arial" panose="020B0604020202090204" pitchFamily="34" charset="0"/>
              </a:rPr>
              <a:t>Part 2: Identify the major causes of flight delays</a:t>
            </a:r>
            <a:endParaRPr lang="en-US" altLang="en-US" sz="4000" b="1" dirty="0">
              <a:solidFill>
                <a:srgbClr val="404040"/>
              </a:solidFill>
              <a:ea typeface="Calibri" panose="020F0502020204030204" pitchFamily="34" charset="0"/>
            </a:endParaRPr>
          </a:p>
        </p:txBody>
      </p:sp>
      <p:pic>
        <p:nvPicPr>
          <p:cNvPr id="3" name="Picture 2" descr="Screenshot 2025-11-05 at 5.24.36 PM"/>
          <p:cNvPicPr>
            <a:picLocks noChangeAspect="1"/>
          </p:cNvPicPr>
          <p:nvPr/>
        </p:nvPicPr>
        <p:blipFill>
          <a:blip r:embed="rId2"/>
          <a:stretch>
            <a:fillRect/>
          </a:stretch>
        </p:blipFill>
        <p:spPr>
          <a:xfrm>
            <a:off x="755015" y="2762885"/>
            <a:ext cx="10363200" cy="3200400"/>
          </a:xfrm>
          <a:prstGeom prst="rect">
            <a:avLst/>
          </a:prstGeom>
        </p:spPr>
      </p:pic>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574040" y="1052830"/>
            <a:ext cx="10724515" cy="1062355"/>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Insight from the plot</a:t>
            </a:r>
            <a:endParaRPr lang="en-US" altLang="en-US" sz="2400" dirty="0">
              <a:solidFill>
                <a:srgbClr val="404040"/>
              </a:solidFill>
              <a:ea typeface="Calibri" panose="020F0502020204030204" pitchFamily="34" charset="0"/>
              <a:sym typeface="Arial" panose="020B0604020202090204" pitchFamily="34" charset="0"/>
            </a:endParaRPr>
          </a:p>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Late aircraft arrivals and carrier operational issues are the dominant causes of flight delays, together accounting for nearly 90% of total delay time.</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11864340"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sym typeface="Arial" panose="020B0604020202090204" pitchFamily="34" charset="0"/>
              </a:rPr>
              <a:t>Part 2: Identify the major causes of flight delays</a:t>
            </a:r>
            <a:endParaRPr lang="en-US" altLang="en-US" sz="4000" b="1" dirty="0">
              <a:solidFill>
                <a:srgbClr val="404040"/>
              </a:solidFill>
              <a:ea typeface="Calibri" panose="020F0502020204030204" pitchFamily="34" charset="0"/>
            </a:endParaRPr>
          </a:p>
        </p:txBody>
      </p:sp>
      <p:pic>
        <p:nvPicPr>
          <p:cNvPr id="2" name="Picture 1" descr="Screenshot 2025-11-05 at 5.29.04 PM"/>
          <p:cNvPicPr>
            <a:picLocks noChangeAspect="1"/>
          </p:cNvPicPr>
          <p:nvPr/>
        </p:nvPicPr>
        <p:blipFill>
          <a:blip r:embed="rId2"/>
          <a:stretch>
            <a:fillRect/>
          </a:stretch>
        </p:blipFill>
        <p:spPr>
          <a:xfrm>
            <a:off x="231140" y="2877820"/>
            <a:ext cx="5054600" cy="2400300"/>
          </a:xfrm>
          <a:prstGeom prst="rect">
            <a:avLst/>
          </a:prstGeom>
        </p:spPr>
      </p:pic>
      <p:pic>
        <p:nvPicPr>
          <p:cNvPr id="4" name="Picture 3" descr="Screenshot 2025-11-05 at 5.29.29 PM"/>
          <p:cNvPicPr>
            <a:picLocks noChangeAspect="1"/>
          </p:cNvPicPr>
          <p:nvPr/>
        </p:nvPicPr>
        <p:blipFill>
          <a:blip r:embed="rId3"/>
          <a:stretch>
            <a:fillRect/>
          </a:stretch>
        </p:blipFill>
        <p:spPr>
          <a:xfrm>
            <a:off x="5904865" y="2370455"/>
            <a:ext cx="5741035" cy="4254500"/>
          </a:xfrm>
          <a:prstGeom prst="rect">
            <a:avLst/>
          </a:prstGeom>
        </p:spPr>
      </p:pic>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574040" y="1052830"/>
            <a:ext cx="10724515" cy="1062355"/>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This is plot representing Distance vs Arrival Delay</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48260" y="90805"/>
            <a:ext cx="11864340"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sym typeface="Arial" panose="020B0604020202090204" pitchFamily="34" charset="0"/>
              </a:rPr>
              <a:t>Part 3: Exploring how other factors effect delays </a:t>
            </a:r>
            <a:endParaRPr lang="en-US" altLang="en-US" sz="4000" b="1" dirty="0">
              <a:solidFill>
                <a:srgbClr val="404040"/>
              </a:solidFill>
              <a:ea typeface="Calibri" panose="020F0502020204030204" pitchFamily="34" charset="0"/>
            </a:endParaRPr>
          </a:p>
        </p:txBody>
      </p:sp>
      <p:pic>
        <p:nvPicPr>
          <p:cNvPr id="3" name="Picture 2" descr="Screenshot 2025-11-05 at 5.30.24 PM"/>
          <p:cNvPicPr>
            <a:picLocks noChangeAspect="1"/>
          </p:cNvPicPr>
          <p:nvPr/>
        </p:nvPicPr>
        <p:blipFill>
          <a:blip r:embed="rId2"/>
          <a:stretch>
            <a:fillRect/>
          </a:stretch>
        </p:blipFill>
        <p:spPr>
          <a:xfrm>
            <a:off x="303530" y="3492500"/>
            <a:ext cx="5347335" cy="1666240"/>
          </a:xfrm>
          <a:prstGeom prst="rect">
            <a:avLst/>
          </a:prstGeom>
        </p:spPr>
      </p:pic>
      <p:pic>
        <p:nvPicPr>
          <p:cNvPr id="5" name="Picture 4" descr="Screenshot 2025-11-05 at 5.30.56 PM"/>
          <p:cNvPicPr>
            <a:picLocks noChangeAspect="1"/>
          </p:cNvPicPr>
          <p:nvPr/>
        </p:nvPicPr>
        <p:blipFill>
          <a:blip r:embed="rId3"/>
          <a:stretch>
            <a:fillRect/>
          </a:stretch>
        </p:blipFill>
        <p:spPr>
          <a:xfrm>
            <a:off x="5765165" y="2235200"/>
            <a:ext cx="6195695" cy="4209415"/>
          </a:xfrm>
          <a:prstGeom prst="rect">
            <a:avLst/>
          </a:prstGeom>
        </p:spPr>
      </p:pic>
      <p:sp>
        <p:nvSpPr>
          <p:cNvPr id="6" name="Oval 5"/>
          <p:cNvSpPr/>
          <p:nvPr/>
        </p:nvSpPr>
        <p:spPr>
          <a:xfrm>
            <a:off x="6433820" y="4568825"/>
            <a:ext cx="2880360" cy="1343660"/>
          </a:xfrm>
          <a:prstGeom prst="ellipse">
            <a:avLst/>
          </a:prstGeom>
          <a:noFill/>
          <a:ln w="571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333375" y="4337050"/>
            <a:ext cx="4782185" cy="1062355"/>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Let’s see the most busy part closer</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11864340"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sym typeface="Arial" panose="020B0604020202090204" pitchFamily="34" charset="0"/>
              </a:rPr>
              <a:t>Part 3: Exploring how other factors effect delays </a:t>
            </a:r>
            <a:endParaRPr lang="en-US" altLang="en-US" sz="4000" b="1" dirty="0">
              <a:solidFill>
                <a:srgbClr val="404040"/>
              </a:solidFill>
              <a:ea typeface="Calibri" panose="020F0502020204030204" pitchFamily="34" charset="0"/>
            </a:endParaRPr>
          </a:p>
        </p:txBody>
      </p:sp>
      <p:pic>
        <p:nvPicPr>
          <p:cNvPr id="2" name="Picture 1" descr="Screenshot 2025-11-05 at 5.35.25 PM"/>
          <p:cNvPicPr>
            <a:picLocks noChangeAspect="1"/>
          </p:cNvPicPr>
          <p:nvPr/>
        </p:nvPicPr>
        <p:blipFill>
          <a:blip r:embed="rId2"/>
          <a:stretch>
            <a:fillRect/>
          </a:stretch>
        </p:blipFill>
        <p:spPr>
          <a:xfrm>
            <a:off x="96520" y="1460500"/>
            <a:ext cx="5715000" cy="1968500"/>
          </a:xfrm>
          <a:prstGeom prst="rect">
            <a:avLst/>
          </a:prstGeom>
        </p:spPr>
      </p:pic>
      <p:pic>
        <p:nvPicPr>
          <p:cNvPr id="4" name="Picture 3" descr="Screenshot 2025-11-05 at 5.35.37 PM"/>
          <p:cNvPicPr>
            <a:picLocks noChangeAspect="1"/>
          </p:cNvPicPr>
          <p:nvPr/>
        </p:nvPicPr>
        <p:blipFill>
          <a:blip r:embed="rId3"/>
          <a:stretch>
            <a:fillRect/>
          </a:stretch>
        </p:blipFill>
        <p:spPr>
          <a:xfrm>
            <a:off x="5115560" y="1994535"/>
            <a:ext cx="6953885" cy="4655185"/>
          </a:xfrm>
          <a:prstGeom prst="rect">
            <a:avLst/>
          </a:prstGeom>
        </p:spPr>
      </p:pic>
      <p:cxnSp>
        <p:nvCxnSpPr>
          <p:cNvPr id="7" name="Straight Connector 6"/>
          <p:cNvCxnSpPr/>
          <p:nvPr/>
        </p:nvCxnSpPr>
        <p:spPr>
          <a:xfrm>
            <a:off x="6750685" y="4825365"/>
            <a:ext cx="5085080" cy="0"/>
          </a:xfrm>
          <a:prstGeom prst="line">
            <a:avLst/>
          </a:prstGeom>
          <a:ln w="57150">
            <a:solidFill>
              <a:srgbClr val="FF0000"/>
            </a:solidFill>
          </a:ln>
        </p:spPr>
        <p:style>
          <a:lnRef idx="3">
            <a:schemeClr val="accent1"/>
          </a:lnRef>
          <a:fillRef idx="0">
            <a:srgbClr val="FFFFFF"/>
          </a:fillRef>
          <a:effectRef idx="0">
            <a:srgbClr val="FFFFFF"/>
          </a:effectRef>
          <a:fontRef idx="minor">
            <a:schemeClr val="tx1"/>
          </a:fontRef>
        </p:style>
      </p:cxnSp>
      <p:sp>
        <p:nvSpPr>
          <p:cNvPr id="8" name="Rectangles 7"/>
          <p:cNvSpPr/>
          <p:nvPr/>
        </p:nvSpPr>
        <p:spPr>
          <a:xfrm>
            <a:off x="611505" y="2864485"/>
            <a:ext cx="1727835" cy="49022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574040" y="1052830"/>
            <a:ext cx="8148320" cy="523240"/>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The correlation of Distance to Arrival delay in numbers</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11864340"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sym typeface="Arial" panose="020B0604020202090204" pitchFamily="34" charset="0"/>
              </a:rPr>
              <a:t>Part 3: Exploring how other factors effect delays </a:t>
            </a:r>
            <a:endParaRPr lang="en-US" altLang="en-US" sz="4000" b="1" dirty="0">
              <a:solidFill>
                <a:srgbClr val="404040"/>
              </a:solidFill>
              <a:ea typeface="Calibri" panose="020F0502020204030204" pitchFamily="34" charset="0"/>
            </a:endParaRPr>
          </a:p>
        </p:txBody>
      </p:sp>
      <p:pic>
        <p:nvPicPr>
          <p:cNvPr id="2" name="Picture 1" descr="Screenshot 2025-11-05 at 5.39.32 PM"/>
          <p:cNvPicPr>
            <a:picLocks noChangeAspect="1"/>
          </p:cNvPicPr>
          <p:nvPr/>
        </p:nvPicPr>
        <p:blipFill>
          <a:blip r:embed="rId2"/>
          <a:stretch>
            <a:fillRect/>
          </a:stretch>
        </p:blipFill>
        <p:spPr>
          <a:xfrm>
            <a:off x="1077595" y="2228850"/>
            <a:ext cx="9000490" cy="2837815"/>
          </a:xfrm>
          <a:prstGeom prst="rect">
            <a:avLst/>
          </a:prstGeom>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574040" y="1052830"/>
            <a:ext cx="8148320" cy="523240"/>
          </a:xfrm>
          <a:prstGeom prst="rect">
            <a:avLst/>
          </a:prstGeom>
          <a:noFill/>
          <a:ln w="9525">
            <a:noFill/>
          </a:ln>
        </p:spPr>
        <p:txBody>
          <a:bodyPr wrap="square" lIns="0" tIns="0" rIns="0" bIns="0" anchor="t">
            <a:noAutofit/>
          </a:bodyPr>
          <a:p>
            <a:pPr marL="0" lvl="0"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The correlation of Distance to Arrival delay in numbers</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11864340"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sym typeface="Arial" panose="020B0604020202090204" pitchFamily="34" charset="0"/>
              </a:rPr>
              <a:t>Part 3: Exploring how other factors effect delays </a:t>
            </a:r>
            <a:endParaRPr lang="en-US" altLang="en-US" sz="4000" b="1" dirty="0">
              <a:solidFill>
                <a:srgbClr val="404040"/>
              </a:solidFill>
              <a:ea typeface="Calibri" panose="020F0502020204030204" pitchFamily="34" charset="0"/>
            </a:endParaRPr>
          </a:p>
        </p:txBody>
      </p:sp>
      <p:pic>
        <p:nvPicPr>
          <p:cNvPr id="3" name="Picture 2" descr="Screenshot 2025-11-05 at 5.40.58 PM"/>
          <p:cNvPicPr>
            <a:picLocks noChangeAspect="1"/>
          </p:cNvPicPr>
          <p:nvPr/>
        </p:nvPicPr>
        <p:blipFill>
          <a:blip r:embed="rId2"/>
          <a:stretch>
            <a:fillRect/>
          </a:stretch>
        </p:blipFill>
        <p:spPr>
          <a:xfrm>
            <a:off x="96520" y="1482090"/>
            <a:ext cx="6130925" cy="2863215"/>
          </a:xfrm>
          <a:prstGeom prst="rect">
            <a:avLst/>
          </a:prstGeom>
        </p:spPr>
      </p:pic>
      <p:pic>
        <p:nvPicPr>
          <p:cNvPr id="4" name="Picture 3" descr="Screenshot 2025-11-05 at 5.41.16 PM"/>
          <p:cNvPicPr>
            <a:picLocks noChangeAspect="1"/>
          </p:cNvPicPr>
          <p:nvPr/>
        </p:nvPicPr>
        <p:blipFill>
          <a:blip r:embed="rId3"/>
          <a:stretch>
            <a:fillRect/>
          </a:stretch>
        </p:blipFill>
        <p:spPr>
          <a:xfrm>
            <a:off x="5900420" y="2509520"/>
            <a:ext cx="6241415" cy="4251960"/>
          </a:xfrm>
          <a:prstGeom prst="rect">
            <a:avLst/>
          </a:prstGeom>
        </p:spPr>
      </p:pic>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5" name="矩形 8"/>
          <p:cNvSpPr/>
          <p:nvPr/>
        </p:nvSpPr>
        <p:spPr>
          <a:xfrm>
            <a:off x="96520" y="797560"/>
            <a:ext cx="11974830" cy="5900420"/>
          </a:xfrm>
          <a:prstGeom prst="rect">
            <a:avLst/>
          </a:prstGeom>
          <a:noFill/>
          <a:ln w="9525">
            <a:noFill/>
          </a:ln>
        </p:spPr>
        <p:txBody>
          <a:bodyPr wrap="square" lIns="0" tIns="0" rIns="0" bIns="0" anchor="t">
            <a:noAutofit/>
          </a:bodyPr>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Late aircraft and carrier delays make up the majority (~90%) of total delay time.</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So:</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Delays are not primarily caused by distance, weather, or security checks.</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Instead, they're due to how airlines manage their own flight operations</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Late Aircraft Delays</a:t>
            </a:r>
            <a:endParaRPr lang="en-US" altLang="en-US" sz="18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These happen when the previous flight of the same airplane arrives late, causing a chain reaction.</a:t>
            </a:r>
            <a:endParaRPr lang="en-US" altLang="en-US" sz="1800" dirty="0">
              <a:solidFill>
                <a:srgbClr val="404040"/>
              </a:solidFill>
              <a:ea typeface="Calibri" panose="020F0502020204030204" pitchFamily="34" charset="0"/>
              <a:sym typeface="Arial" panose="020B0604020202090204" pitchFamily="34" charset="0"/>
            </a:endParaRPr>
          </a:p>
          <a:p>
            <a:pPr marL="914400" lvl="2"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Turnaround time (unloading, cleaning, refueling) becomes rushed or extended.</a:t>
            </a:r>
            <a:endParaRPr lang="en-US" altLang="en-US" sz="1800" dirty="0">
              <a:solidFill>
                <a:srgbClr val="404040"/>
              </a:solidFill>
              <a:ea typeface="Calibri" panose="020F0502020204030204" pitchFamily="34" charset="0"/>
              <a:sym typeface="Arial" panose="020B0604020202090204" pitchFamily="34" charset="0"/>
            </a:endParaRPr>
          </a:p>
          <a:p>
            <a:pPr marL="914400" lvl="2"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If a plane is late in the morning, every next flight using that aircraft risks being delayed.</a:t>
            </a:r>
            <a:endParaRPr lang="en-US" altLang="en-US" sz="1800" dirty="0">
              <a:solidFill>
                <a:srgbClr val="404040"/>
              </a:solidFill>
              <a:ea typeface="Calibri" panose="020F0502020204030204" pitchFamily="34" charset="0"/>
              <a:sym typeface="Arial" panose="020B0604020202090204" pitchFamily="34" charset="0"/>
            </a:endParaRPr>
          </a:p>
          <a:p>
            <a:pPr marL="914400" lvl="2"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The longer the day goes on: the bigger the cumulative delay.</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In short: It's a DOMINO effect of poor schedule recovery.</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Carrier Delays</a:t>
            </a:r>
            <a:endParaRPr lang="en-US" altLang="en-US" sz="18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These come from issues within the airline's control, such as:</a:t>
            </a:r>
            <a:endParaRPr lang="en-US" altLang="en-US" sz="1800" dirty="0">
              <a:solidFill>
                <a:srgbClr val="404040"/>
              </a:solidFill>
              <a:ea typeface="Calibri" panose="020F0502020204030204" pitchFamily="34" charset="0"/>
              <a:sym typeface="Arial" panose="020B0604020202090204" pitchFamily="34" charset="0"/>
            </a:endParaRPr>
          </a:p>
          <a:p>
            <a:pPr marL="914400" lvl="2"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Crew or maintenance problems</a:t>
            </a:r>
            <a:endParaRPr lang="en-US" altLang="en-US" sz="1800" dirty="0">
              <a:solidFill>
                <a:srgbClr val="404040"/>
              </a:solidFill>
              <a:ea typeface="Calibri" panose="020F0502020204030204" pitchFamily="34" charset="0"/>
              <a:sym typeface="Arial" panose="020B0604020202090204" pitchFamily="34" charset="0"/>
            </a:endParaRPr>
          </a:p>
          <a:p>
            <a:pPr marL="914400" lvl="2"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Baggage handling delays</a:t>
            </a:r>
            <a:endParaRPr lang="en-US" altLang="en-US" sz="1800" dirty="0">
              <a:solidFill>
                <a:srgbClr val="404040"/>
              </a:solidFill>
              <a:ea typeface="Calibri" panose="020F0502020204030204" pitchFamily="34" charset="0"/>
              <a:sym typeface="Arial" panose="020B0604020202090204" pitchFamily="34" charset="0"/>
            </a:endParaRPr>
          </a:p>
          <a:p>
            <a:pPr marL="914400" lvl="2"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Waiting for connecting passengers</a:t>
            </a:r>
            <a:endParaRPr lang="en-US" altLang="en-US" sz="1800" dirty="0">
              <a:solidFill>
                <a:srgbClr val="404040"/>
              </a:solidFill>
              <a:ea typeface="Calibri" panose="020F0502020204030204" pitchFamily="34" charset="0"/>
              <a:sym typeface="Arial" panose="020B0604020202090204" pitchFamily="34" charset="0"/>
            </a:endParaRPr>
          </a:p>
          <a:p>
            <a:pPr marL="914400" lvl="2"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Logistical mismanagement (like gate availability or boarding delays)</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In short: It's operational inefficiency or human/system errors within the airline.</a:t>
            </a:r>
            <a:endParaRPr lang="en-US" altLang="en-US" sz="1800" dirty="0">
              <a:solidFill>
                <a:srgbClr val="404040"/>
              </a:solidFill>
              <a:ea typeface="Calibri" panose="020F0502020204030204" pitchFamily="34" charset="0"/>
              <a:sym typeface="Arial" panose="020B0604020202090204" pitchFamily="34" charset="0"/>
            </a:endParaRPr>
          </a:p>
        </p:txBody>
      </p:sp>
      <p:sp>
        <p:nvSpPr>
          <p:cNvPr id="10250" name="文本框 28"/>
          <p:cNvSpPr txBox="1"/>
          <p:nvPr/>
        </p:nvSpPr>
        <p:spPr>
          <a:xfrm>
            <a:off x="96520" y="90805"/>
            <a:ext cx="11864340" cy="706755"/>
          </a:xfrm>
          <a:prstGeom prst="rect">
            <a:avLst/>
          </a:prstGeom>
          <a:noFill/>
          <a:ln w="9525">
            <a:noFill/>
          </a:ln>
        </p:spPr>
        <p:txBody>
          <a:bodyPr wrap="square" anchor="t">
            <a:spAutoFit/>
          </a:bodyPr>
          <a:p>
            <a:pPr>
              <a:buFont typeface="Arial" panose="020B0604020202090204" pitchFamily="34" charset="0"/>
            </a:pPr>
            <a:r>
              <a:rPr lang="en-US" altLang="en-US" sz="4000" b="1" dirty="0">
                <a:solidFill>
                  <a:srgbClr val="404040"/>
                </a:solidFill>
                <a:ea typeface="Calibri" panose="020F0502020204030204" pitchFamily="34" charset="0"/>
              </a:rPr>
              <a:t>Conclusion regarding all the data above</a:t>
            </a:r>
            <a:endParaRPr lang="en-US" altLang="en-US" sz="4000" b="1" dirty="0">
              <a:solidFill>
                <a:srgbClr val="404040"/>
              </a:solidFill>
              <a:ea typeface="Calibri" panose="020F0502020204030204" pitchFamily="34" charset="0"/>
            </a:endParaRPr>
          </a:p>
        </p:txBody>
      </p:sp>
      <p:sp>
        <p:nvSpPr>
          <p:cNvPr id="2" name="Text Box 1"/>
          <p:cNvSpPr txBox="1"/>
          <p:nvPr/>
        </p:nvSpPr>
        <p:spPr>
          <a:xfrm>
            <a:off x="7788275" y="3736340"/>
            <a:ext cx="4172585" cy="1478915"/>
          </a:xfrm>
          <a:prstGeom prst="rect">
            <a:avLst/>
          </a:prstGeom>
          <a:noFill/>
        </p:spPr>
        <p:txBody>
          <a:bodyPr wrap="square" rtlCol="0" anchor="t">
            <a:noAutofit/>
          </a:bodyPr>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LateAircraftDelay     35370.0  </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CarrierDelay             15905.0  </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NASDelay                 4486.0  </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WeatherDelay           515.0  </a:t>
            </a:r>
            <a:endParaRPr lang="en-US" altLang="en-US" sz="1800" dirty="0">
              <a:solidFill>
                <a:srgbClr val="404040"/>
              </a:solidFill>
              <a:ea typeface="Calibri" panose="020F0502020204030204" pitchFamily="34" charset="0"/>
              <a:sym typeface="Arial" panose="020B0604020202090204" pitchFamily="34" charset="0"/>
            </a:endParaRPr>
          </a:p>
          <a:p>
            <a:pPr marL="0" lvl="0" indent="457200" algn="l" defTabSz="1216025">
              <a:lnSpc>
                <a:spcPct val="8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SecurityDelay           121.0</a:t>
            </a:r>
            <a:endParaRPr lang="en-US" altLang="en-US" sz="18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图片 3"/>
          <p:cNvPicPr>
            <a:picLocks noChangeAspect="1"/>
          </p:cNvPicPr>
          <p:nvPr/>
        </p:nvPicPr>
        <p:blipFill>
          <a:blip r:embed="rId1"/>
          <a:srcRect l="5727" r="16841" b="26530"/>
          <a:stretch>
            <a:fillRect/>
          </a:stretch>
        </p:blipFill>
        <p:spPr>
          <a:xfrm>
            <a:off x="635" y="0"/>
            <a:ext cx="12192000" cy="6858000"/>
          </a:xfrm>
          <a:prstGeom prst="rect">
            <a:avLst/>
          </a:prstGeom>
          <a:noFill/>
          <a:ln w="9525">
            <a:noFill/>
          </a:ln>
        </p:spPr>
      </p:pic>
      <p:grpSp>
        <p:nvGrpSpPr>
          <p:cNvPr id="29698" name="组合 4"/>
          <p:cNvGrpSpPr/>
          <p:nvPr/>
        </p:nvGrpSpPr>
        <p:grpSpPr>
          <a:xfrm>
            <a:off x="2434173" y="1840865"/>
            <a:ext cx="7693442" cy="3779927"/>
            <a:chOff x="3457574" y="1980015"/>
            <a:chExt cx="5143501" cy="2116840"/>
          </a:xfrm>
        </p:grpSpPr>
        <p:grpSp>
          <p:nvGrpSpPr>
            <p:cNvPr id="29699" name="组合 5"/>
            <p:cNvGrpSpPr/>
            <p:nvPr/>
          </p:nvGrpSpPr>
          <p:grpSpPr>
            <a:xfrm>
              <a:off x="3590925" y="1980069"/>
              <a:ext cx="5010150" cy="679906"/>
              <a:chOff x="4324350" y="2295525"/>
              <a:chExt cx="3733800" cy="679906"/>
            </a:xfrm>
          </p:grpSpPr>
          <p:cxnSp>
            <p:nvCxnSpPr>
              <p:cNvPr id="15" name="直接连接符 14"/>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29704" name="组合 6"/>
            <p:cNvGrpSpPr/>
            <p:nvPr/>
          </p:nvGrpSpPr>
          <p:grpSpPr>
            <a:xfrm flipH="1" flipV="1">
              <a:off x="3457574" y="3370824"/>
              <a:ext cx="4951785" cy="726031"/>
              <a:chOff x="4324350" y="2295525"/>
              <a:chExt cx="3733800" cy="679906"/>
            </a:xfrm>
          </p:grpSpPr>
          <p:cxnSp>
            <p:nvCxnSpPr>
              <p:cNvPr id="11" name="直接连接符 10"/>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9709" name="文本框 7"/>
            <p:cNvSpPr txBox="1"/>
            <p:nvPr/>
          </p:nvSpPr>
          <p:spPr>
            <a:xfrm>
              <a:off x="3753328" y="1980015"/>
              <a:ext cx="4495699" cy="2033399"/>
            </a:xfrm>
            <a:prstGeom prst="rect">
              <a:avLst/>
            </a:prstGeom>
            <a:noFill/>
            <a:ln w="9525">
              <a:noFill/>
            </a:ln>
          </p:spPr>
          <p:txBody>
            <a:bodyPr wrap="square" anchor="t">
              <a:spAutoFit/>
            </a:bodyPr>
            <a:p>
              <a:pPr algn="ctr" defTabSz="914400"/>
              <a:r>
                <a:rPr lang="en-US" altLang="zh-CN" sz="11500" i="1" dirty="0">
                  <a:solidFill>
                    <a:srgbClr val="404040"/>
                  </a:solidFill>
                  <a:ea typeface="Calibri" panose="020F0502020204030204" pitchFamily="34" charset="0"/>
                </a:rPr>
                <a:t>THANK YOU!</a:t>
              </a:r>
              <a:endParaRPr lang="en-US" altLang="zh-CN" sz="11500" i="1" dirty="0">
                <a:solidFill>
                  <a:srgbClr val="404040"/>
                </a:solidFill>
                <a:ea typeface="Calibri" panose="020F0502020204030204" pitchFamily="34" charset="0"/>
              </a:endParaRPr>
            </a:p>
          </p:txBody>
        </p:sp>
      </p:gr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3380</Words>
  <Application>WPS Presentation</Application>
  <PresentationFormat>宽屏</PresentationFormat>
  <Paragraphs>114</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Arial</vt:lpstr>
      <vt:lpstr>SimSun</vt:lpstr>
      <vt:lpstr>Wingdings</vt:lpstr>
      <vt:lpstr>Calibri</vt:lpstr>
      <vt:lpstr>Helvetica Neue</vt:lpstr>
      <vt:lpstr>宋体-简</vt:lpstr>
      <vt:lpstr>Microsoft YaHei</vt:lpstr>
      <vt:lpstr>汉仪旗黑</vt:lpstr>
      <vt:lpstr>Arial Unicode MS</vt:lpstr>
      <vt:lpstr>Calibri Light</vt:lpstr>
      <vt:lpstr>SimSun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ZhuLong</dc:creator>
  <cp:lastModifiedBy>mclight</cp:lastModifiedBy>
  <cp:revision>37</cp:revision>
  <dcterms:created xsi:type="dcterms:W3CDTF">2025-11-05T08:46:04Z</dcterms:created>
  <dcterms:modified xsi:type="dcterms:W3CDTF">2025-11-05T08:46:04Z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1033-12.1.23143.23143</vt:lpwstr>
  </property>
  <property fmtid="{D5CDD505-2E9C-101B-9397-08002B2CF9AE}" pid="3" name="ICV">
    <vt:lpwstr>CA86A7F271A9AD85D3B10969DD46BBC6_43</vt:lpwstr>
  </property>
</Properties>
</file>